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PT Serif Bold" charset="1" panose="020A0703040505020204"/>
      <p:regular r:id="rId21"/>
    </p:embeddedFont>
    <p:embeddedFont>
      <p:font typeface="DM Sans Bold" charset="1" panose="00000000000000000000"/>
      <p:regular r:id="rId22"/>
    </p:embeddedFont>
    <p:embeddedFont>
      <p:font typeface="DM Sans" charset="1" panose="00000000000000000000"/>
      <p:regular r:id="rId23"/>
    </p:embeddedFont>
    <p:embeddedFont>
      <p:font typeface="PT Serif" charset="1" panose="020A0603040505020204"/>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notesMasters/notesMaster1.xml" Type="http://schemas.openxmlformats.org/officeDocument/2006/relationships/notesMaster"/><Relationship Id="rId19" Target="theme/theme2.xml" Type="http://schemas.openxmlformats.org/officeDocument/2006/relationships/theme"/><Relationship Id="rId2" Target="presProps.xml" Type="http://schemas.openxmlformats.org/officeDocument/2006/relationships/presProps"/><Relationship Id="rId20" Target="notesSlides/notesSlide1.xml" Type="http://schemas.openxmlformats.org/officeDocument/2006/relationships/note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notesSlides/notesSlide2.xml" Type="http://schemas.openxmlformats.org/officeDocument/2006/relationships/notesSlide"/><Relationship Id="rId25" Target="notesSlides/notesSlide3.xml" Type="http://schemas.openxmlformats.org/officeDocument/2006/relationships/notesSlide"/><Relationship Id="rId26" Target="notesSlides/notesSlide4.xml" Type="http://schemas.openxmlformats.org/officeDocument/2006/relationships/notesSlide"/><Relationship Id="rId27" Target="fonts/font27.fntdata" Type="http://schemas.openxmlformats.org/officeDocument/2006/relationships/font"/><Relationship Id="rId28" Target="notesSlides/notesSlide5.xml" Type="http://schemas.openxmlformats.org/officeDocument/2006/relationships/notesSlide"/><Relationship Id="rId29" Target="notesSlides/notesSlide6.xml" Type="http://schemas.openxmlformats.org/officeDocument/2006/relationships/notesSlide"/><Relationship Id="rId3" Target="viewProps.xml" Type="http://schemas.openxmlformats.org/officeDocument/2006/relationships/viewProps"/><Relationship Id="rId30" Target="notesSlides/notesSlide7.xml" Type="http://schemas.openxmlformats.org/officeDocument/2006/relationships/notesSlide"/><Relationship Id="rId31" Target="notesSlides/notesSlide8.xml" Type="http://schemas.openxmlformats.org/officeDocument/2006/relationships/notesSlide"/><Relationship Id="rId32" Target="notesSlides/notesSlide9.xml" Type="http://schemas.openxmlformats.org/officeDocument/2006/relationships/notesSlide"/><Relationship Id="rId33" Target="notesSlides/notesSlide10.xml" Type="http://schemas.openxmlformats.org/officeDocument/2006/relationships/notesSlide"/><Relationship Id="rId34" Target="notesSlides/notesSlide11.xml" Type="http://schemas.openxmlformats.org/officeDocument/2006/relationships/notesSlide"/><Relationship Id="rId35" Target="notesSlides/notesSlide12.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png" Type="http://schemas.openxmlformats.org/officeDocument/2006/relationships/image"/><Relationship Id="rId14" Target="../media/image15.svg" Type="http://schemas.openxmlformats.org/officeDocument/2006/relationships/image"/><Relationship Id="rId15" Target="../media/image16.png" Type="http://schemas.openxmlformats.org/officeDocument/2006/relationships/image"/><Relationship Id="rId16" Target="../media/image17.png" Type="http://schemas.openxmlformats.org/officeDocument/2006/relationships/image"/><Relationship Id="rId17" Target="../media/image18.svg" Type="http://schemas.openxmlformats.org/officeDocument/2006/relationships/image"/><Relationship Id="rId18" Target="../media/image19.png" Type="http://schemas.openxmlformats.org/officeDocument/2006/relationships/image"/><Relationship Id="rId19" Target="../media/image20.png" Type="http://schemas.openxmlformats.org/officeDocument/2006/relationships/image"/><Relationship Id="rId2" Target="../notesSlides/notesSlide3.xml" Type="http://schemas.openxmlformats.org/officeDocument/2006/relationships/notesSlide"/><Relationship Id="rId20" Target="../media/image21.sv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2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2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2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2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26.png" Type="http://schemas.openxmlformats.org/officeDocument/2006/relationships/image"/><Relationship Id="rId6" Target="../media/image2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28.png" Type="http://schemas.openxmlformats.org/officeDocument/2006/relationships/image"/><Relationship Id="rId4" Target="../media/image29.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3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AFA"/>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a:ln w="12700">
              <a:solidFill>
                <a:srgbClr val="000000"/>
              </a:solidFill>
            </a:ln>
          </p:spPr>
        </p:sp>
      </p:grpSp>
      <p:sp>
        <p:nvSpPr>
          <p:cNvPr name="Freeform 6" id="6" descr="preencoded.png">
            <a:hlinkClick r:id="rId4" tooltip="https://gamma.app/?utm_source=made-with-gamma"/>
          </p:cNvPr>
          <p:cNvSpPr/>
          <p:nvPr/>
        </p:nvSpPr>
        <p:spPr>
          <a:xfrm flipH="false" flipV="false" rot="0">
            <a:off x="16049015" y="9686925"/>
            <a:ext cx="2153260" cy="514350"/>
          </a:xfrm>
          <a:custGeom>
            <a:avLst/>
            <a:gdLst/>
            <a:ahLst/>
            <a:cxnLst/>
            <a:rect r="r" b="b" t="t" l="l"/>
            <a:pathLst>
              <a:path h="514350" w="2153260">
                <a:moveTo>
                  <a:pt x="0" y="0"/>
                </a:moveTo>
                <a:lnTo>
                  <a:pt x="2153260" y="0"/>
                </a:lnTo>
                <a:lnTo>
                  <a:pt x="2153260" y="514350"/>
                </a:lnTo>
                <a:lnTo>
                  <a:pt x="0" y="514350"/>
                </a:lnTo>
                <a:lnTo>
                  <a:pt x="0" y="0"/>
                </a:lnTo>
                <a:close/>
              </a:path>
            </a:pathLst>
          </a:custGeom>
          <a:blipFill>
            <a:blip r:embed="rId3"/>
            <a:stretch>
              <a:fillRect l="0" t="0" r="0" b="0"/>
            </a:stretch>
          </a:blipFill>
        </p:spPr>
      </p:sp>
      <p:sp>
        <p:nvSpPr>
          <p:cNvPr name="Freeform 7" id="7" descr="preencoded.png"/>
          <p:cNvSpPr/>
          <p:nvPr/>
        </p:nvSpPr>
        <p:spPr>
          <a:xfrm flipH="false" flipV="false" rot="0">
            <a:off x="11430000" y="0"/>
            <a:ext cx="6858000" cy="10287000"/>
          </a:xfrm>
          <a:custGeom>
            <a:avLst/>
            <a:gdLst/>
            <a:ahLst/>
            <a:cxnLst/>
            <a:rect r="r" b="b" t="t" l="l"/>
            <a:pathLst>
              <a:path h="10287000" w="6858000">
                <a:moveTo>
                  <a:pt x="0" y="0"/>
                </a:moveTo>
                <a:lnTo>
                  <a:pt x="6858000" y="0"/>
                </a:lnTo>
                <a:lnTo>
                  <a:pt x="6858000" y="10287000"/>
                </a:lnTo>
                <a:lnTo>
                  <a:pt x="0" y="10287000"/>
                </a:lnTo>
                <a:lnTo>
                  <a:pt x="0" y="0"/>
                </a:lnTo>
                <a:close/>
              </a:path>
            </a:pathLst>
          </a:custGeom>
          <a:blipFill>
            <a:blip r:embed="rId5"/>
            <a:stretch>
              <a:fillRect l="0" t="0" r="0" b="0"/>
            </a:stretch>
          </a:blipFill>
        </p:spPr>
      </p:sp>
      <p:sp>
        <p:nvSpPr>
          <p:cNvPr name="TextBox 8" id="8"/>
          <p:cNvSpPr txBox="true"/>
          <p:nvPr/>
        </p:nvSpPr>
        <p:spPr>
          <a:xfrm rot="0">
            <a:off x="992238" y="1669552"/>
            <a:ext cx="9445523" cy="1843088"/>
          </a:xfrm>
          <a:prstGeom prst="rect">
            <a:avLst/>
          </a:prstGeom>
        </p:spPr>
        <p:txBody>
          <a:bodyPr anchor="t" rtlCol="false" tIns="0" lIns="0" bIns="0" rIns="0">
            <a:spAutoFit/>
          </a:bodyPr>
          <a:lstStyle/>
          <a:p>
            <a:pPr algn="l">
              <a:lnSpc>
                <a:spcPts val="7312"/>
              </a:lnSpc>
            </a:pPr>
            <a:r>
              <a:rPr lang="en-US" sz="5812" b="true">
                <a:solidFill>
                  <a:srgbClr val="020202"/>
                </a:solidFill>
                <a:latin typeface="PT Serif Bold"/>
                <a:ea typeface="PT Serif Bold"/>
                <a:cs typeface="PT Serif Bold"/>
                <a:sym typeface="PT Serif Bold"/>
              </a:rPr>
              <a:t>MindCare: Online Mental Health Support System</a:t>
            </a:r>
          </a:p>
        </p:txBody>
      </p:sp>
      <p:sp>
        <p:nvSpPr>
          <p:cNvPr name="TextBox 9" id="9"/>
          <p:cNvSpPr txBox="true"/>
          <p:nvPr/>
        </p:nvSpPr>
        <p:spPr>
          <a:xfrm rot="0">
            <a:off x="992238" y="3898259"/>
            <a:ext cx="9445523" cy="423862"/>
          </a:xfrm>
          <a:prstGeom prst="rect">
            <a:avLst/>
          </a:prstGeom>
        </p:spPr>
        <p:txBody>
          <a:bodyPr anchor="t" rtlCol="false" tIns="0" lIns="0" bIns="0" rIns="0">
            <a:spAutoFit/>
          </a:bodyPr>
          <a:lstStyle/>
          <a:p>
            <a:pPr algn="l">
              <a:lnSpc>
                <a:spcPts val="3562"/>
              </a:lnSpc>
            </a:pPr>
            <a:r>
              <a:rPr lang="en-US" sz="2187" b="true">
                <a:solidFill>
                  <a:srgbClr val="383838"/>
                </a:solidFill>
                <a:latin typeface="DM Sans Bold"/>
                <a:ea typeface="DM Sans Bold"/>
                <a:cs typeface="DM Sans Bold"/>
                <a:sym typeface="DM Sans Bold"/>
              </a:rPr>
              <a:t>Course: </a:t>
            </a:r>
            <a:r>
              <a:rPr lang="en-US" sz="2187">
                <a:solidFill>
                  <a:srgbClr val="383838"/>
                </a:solidFill>
                <a:latin typeface="DM Sans"/>
                <a:ea typeface="DM Sans"/>
                <a:cs typeface="DM Sans"/>
                <a:sym typeface="DM Sans"/>
              </a:rPr>
              <a:t>Software Engineering</a:t>
            </a:r>
          </a:p>
        </p:txBody>
      </p:sp>
      <p:sp>
        <p:nvSpPr>
          <p:cNvPr name="TextBox 10" id="10"/>
          <p:cNvSpPr txBox="true"/>
          <p:nvPr/>
        </p:nvSpPr>
        <p:spPr>
          <a:xfrm rot="0">
            <a:off x="992238" y="4670822"/>
            <a:ext cx="9445523" cy="423862"/>
          </a:xfrm>
          <a:prstGeom prst="rect">
            <a:avLst/>
          </a:prstGeom>
        </p:spPr>
        <p:txBody>
          <a:bodyPr anchor="t" rtlCol="false" tIns="0" lIns="0" bIns="0" rIns="0">
            <a:spAutoFit/>
          </a:bodyPr>
          <a:lstStyle/>
          <a:p>
            <a:pPr algn="l">
              <a:lnSpc>
                <a:spcPts val="3562"/>
              </a:lnSpc>
            </a:pPr>
            <a:r>
              <a:rPr lang="en-US" sz="2187" b="true">
                <a:solidFill>
                  <a:srgbClr val="383838"/>
                </a:solidFill>
                <a:latin typeface="DM Sans Bold"/>
                <a:ea typeface="DM Sans Bold"/>
                <a:cs typeface="DM Sans Bold"/>
                <a:sym typeface="DM Sans Bold"/>
              </a:rPr>
              <a:t>Students: </a:t>
            </a:r>
            <a:r>
              <a:rPr lang="en-US" sz="2187">
                <a:solidFill>
                  <a:srgbClr val="383838"/>
                </a:solidFill>
                <a:latin typeface="DM Sans"/>
                <a:ea typeface="DM Sans"/>
                <a:cs typeface="DM Sans"/>
                <a:sym typeface="DM Sans"/>
              </a:rPr>
              <a:t>Abdul Rehman Shakir, Ali Husnain, Muhammad Shahzaib</a:t>
            </a:r>
          </a:p>
        </p:txBody>
      </p:sp>
      <p:sp>
        <p:nvSpPr>
          <p:cNvPr name="TextBox 11" id="11"/>
          <p:cNvSpPr txBox="true"/>
          <p:nvPr/>
        </p:nvSpPr>
        <p:spPr>
          <a:xfrm rot="0">
            <a:off x="992238" y="5443385"/>
            <a:ext cx="9445523" cy="423862"/>
          </a:xfrm>
          <a:prstGeom prst="rect">
            <a:avLst/>
          </a:prstGeom>
        </p:spPr>
        <p:txBody>
          <a:bodyPr anchor="t" rtlCol="false" tIns="0" lIns="0" bIns="0" rIns="0">
            <a:spAutoFit/>
          </a:bodyPr>
          <a:lstStyle/>
          <a:p>
            <a:pPr algn="l">
              <a:lnSpc>
                <a:spcPts val="3562"/>
              </a:lnSpc>
            </a:pPr>
            <a:r>
              <a:rPr lang="en-US" sz="2187" b="true">
                <a:solidFill>
                  <a:srgbClr val="383838"/>
                </a:solidFill>
                <a:latin typeface="DM Sans Bold"/>
                <a:ea typeface="DM Sans Bold"/>
                <a:cs typeface="DM Sans Bold"/>
                <a:sym typeface="DM Sans Bold"/>
              </a:rPr>
              <a:t>University:</a:t>
            </a:r>
            <a:r>
              <a:rPr lang="en-US" sz="2187">
                <a:solidFill>
                  <a:srgbClr val="383838"/>
                </a:solidFill>
                <a:latin typeface="DM Sans"/>
                <a:ea typeface="DM Sans"/>
                <a:cs typeface="DM Sans"/>
                <a:sym typeface="DM Sans"/>
              </a:rPr>
              <a:t> University of Management and Technology </a:t>
            </a:r>
          </a:p>
        </p:txBody>
      </p:sp>
      <p:sp>
        <p:nvSpPr>
          <p:cNvPr name="TextBox 12" id="12"/>
          <p:cNvSpPr txBox="true"/>
          <p:nvPr/>
        </p:nvSpPr>
        <p:spPr>
          <a:xfrm rot="0">
            <a:off x="992238" y="6215958"/>
            <a:ext cx="9445523" cy="2214562"/>
          </a:xfrm>
          <a:prstGeom prst="rect">
            <a:avLst/>
          </a:prstGeom>
        </p:spPr>
        <p:txBody>
          <a:bodyPr anchor="t" rtlCol="false" tIns="0" lIns="0" bIns="0" rIns="0">
            <a:spAutoFit/>
          </a:bodyPr>
          <a:lstStyle/>
          <a:p>
            <a:pPr algn="l">
              <a:lnSpc>
                <a:spcPts val="3562"/>
              </a:lnSpc>
            </a:pPr>
            <a:r>
              <a:rPr lang="en-US" sz="2187">
                <a:solidFill>
                  <a:srgbClr val="383838"/>
                </a:solidFill>
                <a:latin typeface="DM Sans"/>
                <a:ea typeface="DM Sans"/>
                <a:cs typeface="DM Sans"/>
                <a:sym typeface="DM Sans"/>
              </a:rPr>
              <a:t>This presentation details the architectural design of MindCare, an online platform engineered to provide secure and scalable mental health support. We will explore the architectural decisions underpinning its development, focusing on how these choices address critical requirements for a robust and user-centric system.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AFA"/>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a:ln w="12700">
              <a:solidFill>
                <a:srgbClr val="000000"/>
              </a:solidFill>
            </a:ln>
          </p:spPr>
        </p:sp>
      </p:grpSp>
      <p:sp>
        <p:nvSpPr>
          <p:cNvPr name="Freeform 6" id="6" descr="preencoded.png"/>
          <p:cNvSpPr/>
          <p:nvPr/>
        </p:nvSpPr>
        <p:spPr>
          <a:xfrm flipH="false" flipV="false" rot="0">
            <a:off x="0" y="0"/>
            <a:ext cx="6858000" cy="10296820"/>
          </a:xfrm>
          <a:custGeom>
            <a:avLst/>
            <a:gdLst/>
            <a:ahLst/>
            <a:cxnLst/>
            <a:rect r="r" b="b" t="t" l="l"/>
            <a:pathLst>
              <a:path h="10296820" w="6858000">
                <a:moveTo>
                  <a:pt x="0" y="0"/>
                </a:moveTo>
                <a:lnTo>
                  <a:pt x="6858000" y="0"/>
                </a:lnTo>
                <a:lnTo>
                  <a:pt x="6858000" y="10296820"/>
                </a:lnTo>
                <a:lnTo>
                  <a:pt x="0" y="10296820"/>
                </a:lnTo>
                <a:lnTo>
                  <a:pt x="0" y="0"/>
                </a:lnTo>
                <a:close/>
              </a:path>
            </a:pathLst>
          </a:custGeom>
          <a:blipFill>
            <a:blip r:embed="rId3"/>
            <a:stretch>
              <a:fillRect l="-1" t="0" r="-1" b="0"/>
            </a:stretch>
          </a:blipFill>
        </p:spPr>
      </p:sp>
      <p:sp>
        <p:nvSpPr>
          <p:cNvPr name="TextBox 7" id="7"/>
          <p:cNvSpPr txBox="true"/>
          <p:nvPr/>
        </p:nvSpPr>
        <p:spPr>
          <a:xfrm rot="0">
            <a:off x="7618809" y="578644"/>
            <a:ext cx="9908381" cy="1398588"/>
          </a:xfrm>
          <a:prstGeom prst="rect">
            <a:avLst/>
          </a:prstGeom>
        </p:spPr>
        <p:txBody>
          <a:bodyPr anchor="t" rtlCol="false" tIns="0" lIns="0" bIns="0" rIns="0">
            <a:spAutoFit/>
          </a:bodyPr>
          <a:lstStyle/>
          <a:p>
            <a:pPr algn="l">
              <a:lnSpc>
                <a:spcPts val="5562"/>
              </a:lnSpc>
            </a:pPr>
            <a:r>
              <a:rPr lang="en-US" sz="4437" b="true">
                <a:solidFill>
                  <a:srgbClr val="020202"/>
                </a:solidFill>
                <a:latin typeface="PT Serif Bold"/>
                <a:ea typeface="PT Serif Bold"/>
                <a:cs typeface="PT Serif Bold"/>
                <a:sym typeface="PT Serif Bold"/>
              </a:rPr>
              <a:t>Addressing the Mental Health Access Gap</a:t>
            </a:r>
          </a:p>
        </p:txBody>
      </p:sp>
      <p:grpSp>
        <p:nvGrpSpPr>
          <p:cNvPr name="Group 8" id="8"/>
          <p:cNvGrpSpPr/>
          <p:nvPr/>
        </p:nvGrpSpPr>
        <p:grpSpPr>
          <a:xfrm rot="0">
            <a:off x="7604522" y="2335711"/>
            <a:ext cx="9936956" cy="1702889"/>
            <a:chOff x="0" y="0"/>
            <a:chExt cx="13249275" cy="2270519"/>
          </a:xfrm>
        </p:grpSpPr>
        <p:sp>
          <p:nvSpPr>
            <p:cNvPr name="Freeform 9" id="9"/>
            <p:cNvSpPr/>
            <p:nvPr/>
          </p:nvSpPr>
          <p:spPr>
            <a:xfrm flipH="false" flipV="false" rot="0">
              <a:off x="19050" y="19050"/>
              <a:ext cx="13211175" cy="2232406"/>
            </a:xfrm>
            <a:custGeom>
              <a:avLst/>
              <a:gdLst/>
              <a:ahLst/>
              <a:cxnLst/>
              <a:rect r="r" b="b" t="t" l="l"/>
              <a:pathLst>
                <a:path h="2232406" w="13211175">
                  <a:moveTo>
                    <a:pt x="0" y="182880"/>
                  </a:moveTo>
                  <a:cubicBezTo>
                    <a:pt x="0" y="81915"/>
                    <a:pt x="83058" y="0"/>
                    <a:pt x="185420" y="0"/>
                  </a:cubicBezTo>
                  <a:lnTo>
                    <a:pt x="13025755" y="0"/>
                  </a:lnTo>
                  <a:cubicBezTo>
                    <a:pt x="13128244" y="0"/>
                    <a:pt x="13211175" y="81915"/>
                    <a:pt x="13211175" y="182880"/>
                  </a:cubicBezTo>
                  <a:lnTo>
                    <a:pt x="13211175" y="2049526"/>
                  </a:lnTo>
                  <a:cubicBezTo>
                    <a:pt x="13211175" y="2150491"/>
                    <a:pt x="13128118" y="2232406"/>
                    <a:pt x="13025755" y="2232406"/>
                  </a:cubicBezTo>
                  <a:lnTo>
                    <a:pt x="185420" y="2232406"/>
                  </a:lnTo>
                  <a:cubicBezTo>
                    <a:pt x="82931" y="2232406"/>
                    <a:pt x="0" y="2150491"/>
                    <a:pt x="0" y="2049526"/>
                  </a:cubicBezTo>
                  <a:close/>
                </a:path>
              </a:pathLst>
            </a:custGeom>
            <a:solidFill>
              <a:srgbClr val="FFFFFF"/>
            </a:solidFill>
            <a:ln w="12700">
              <a:solidFill>
                <a:srgbClr val="000000"/>
              </a:solidFill>
            </a:ln>
          </p:spPr>
        </p:sp>
        <p:sp>
          <p:nvSpPr>
            <p:cNvPr name="Freeform 10" id="10"/>
            <p:cNvSpPr/>
            <p:nvPr/>
          </p:nvSpPr>
          <p:spPr>
            <a:xfrm flipH="false" flipV="false" rot="0">
              <a:off x="0" y="0"/>
              <a:ext cx="13249275" cy="2270506"/>
            </a:xfrm>
            <a:custGeom>
              <a:avLst/>
              <a:gdLst/>
              <a:ahLst/>
              <a:cxnLst/>
              <a:rect r="r" b="b" t="t" l="l"/>
              <a:pathLst>
                <a:path h="2270506" w="13249275">
                  <a:moveTo>
                    <a:pt x="0" y="201930"/>
                  </a:moveTo>
                  <a:cubicBezTo>
                    <a:pt x="0" y="90170"/>
                    <a:pt x="91821" y="0"/>
                    <a:pt x="204470" y="0"/>
                  </a:cubicBezTo>
                  <a:lnTo>
                    <a:pt x="13044805" y="0"/>
                  </a:lnTo>
                  <a:lnTo>
                    <a:pt x="13044805" y="19050"/>
                  </a:lnTo>
                  <a:lnTo>
                    <a:pt x="13044805" y="0"/>
                  </a:lnTo>
                  <a:cubicBezTo>
                    <a:pt x="13157454" y="0"/>
                    <a:pt x="13249275" y="90170"/>
                    <a:pt x="13249275" y="201930"/>
                  </a:cubicBezTo>
                  <a:lnTo>
                    <a:pt x="13230225" y="201930"/>
                  </a:lnTo>
                  <a:lnTo>
                    <a:pt x="13249275" y="201930"/>
                  </a:lnTo>
                  <a:lnTo>
                    <a:pt x="13249275" y="2068576"/>
                  </a:lnTo>
                  <a:lnTo>
                    <a:pt x="13230225" y="2068576"/>
                  </a:lnTo>
                  <a:lnTo>
                    <a:pt x="13249275" y="2068576"/>
                  </a:lnTo>
                  <a:cubicBezTo>
                    <a:pt x="13249275" y="2180336"/>
                    <a:pt x="13157454" y="2270506"/>
                    <a:pt x="13044805" y="2270506"/>
                  </a:cubicBezTo>
                  <a:lnTo>
                    <a:pt x="13044805" y="2251456"/>
                  </a:lnTo>
                  <a:lnTo>
                    <a:pt x="13044805" y="2270506"/>
                  </a:lnTo>
                  <a:lnTo>
                    <a:pt x="204470" y="2270506"/>
                  </a:lnTo>
                  <a:lnTo>
                    <a:pt x="204470" y="2251456"/>
                  </a:lnTo>
                  <a:lnTo>
                    <a:pt x="204470" y="2270506"/>
                  </a:lnTo>
                  <a:cubicBezTo>
                    <a:pt x="91821" y="2270506"/>
                    <a:pt x="0" y="2180336"/>
                    <a:pt x="0" y="2068576"/>
                  </a:cubicBezTo>
                  <a:lnTo>
                    <a:pt x="0" y="201930"/>
                  </a:lnTo>
                  <a:lnTo>
                    <a:pt x="19050" y="201930"/>
                  </a:lnTo>
                  <a:lnTo>
                    <a:pt x="0" y="201930"/>
                  </a:lnTo>
                  <a:moveTo>
                    <a:pt x="38100" y="201930"/>
                  </a:moveTo>
                  <a:lnTo>
                    <a:pt x="38100" y="2068576"/>
                  </a:lnTo>
                  <a:lnTo>
                    <a:pt x="19050" y="2068576"/>
                  </a:lnTo>
                  <a:lnTo>
                    <a:pt x="38100" y="2068576"/>
                  </a:lnTo>
                  <a:cubicBezTo>
                    <a:pt x="38100" y="2158746"/>
                    <a:pt x="112395" y="2232406"/>
                    <a:pt x="204470" y="2232406"/>
                  </a:cubicBezTo>
                  <a:lnTo>
                    <a:pt x="13044805" y="2232406"/>
                  </a:lnTo>
                  <a:cubicBezTo>
                    <a:pt x="13137007" y="2232406"/>
                    <a:pt x="13211175" y="2158746"/>
                    <a:pt x="13211175" y="2068576"/>
                  </a:cubicBezTo>
                  <a:lnTo>
                    <a:pt x="13211175" y="201930"/>
                  </a:lnTo>
                  <a:cubicBezTo>
                    <a:pt x="13211175" y="111760"/>
                    <a:pt x="13136880" y="38100"/>
                    <a:pt x="13044805" y="38100"/>
                  </a:cubicBezTo>
                  <a:lnTo>
                    <a:pt x="204470" y="38100"/>
                  </a:lnTo>
                  <a:lnTo>
                    <a:pt x="204470" y="19050"/>
                  </a:lnTo>
                  <a:lnTo>
                    <a:pt x="204470" y="38100"/>
                  </a:lnTo>
                  <a:cubicBezTo>
                    <a:pt x="112395" y="38100"/>
                    <a:pt x="38100" y="111760"/>
                    <a:pt x="38100" y="201930"/>
                  </a:cubicBezTo>
                  <a:close/>
                </a:path>
              </a:pathLst>
            </a:custGeom>
            <a:solidFill>
              <a:srgbClr val="D8D4D4"/>
            </a:solidFill>
            <a:ln w="12700">
              <a:solidFill>
                <a:srgbClr val="000000"/>
              </a:solidFill>
            </a:ln>
          </p:spPr>
        </p:sp>
      </p:grpSp>
      <p:grpSp>
        <p:nvGrpSpPr>
          <p:cNvPr name="Group 11" id="11"/>
          <p:cNvGrpSpPr/>
          <p:nvPr/>
        </p:nvGrpSpPr>
        <p:grpSpPr>
          <a:xfrm rot="0">
            <a:off x="7590234" y="2349998"/>
            <a:ext cx="114300" cy="1674314"/>
            <a:chOff x="0" y="0"/>
            <a:chExt cx="152400" cy="2232419"/>
          </a:xfrm>
        </p:grpSpPr>
        <p:sp>
          <p:nvSpPr>
            <p:cNvPr name="Freeform 12" id="12"/>
            <p:cNvSpPr/>
            <p:nvPr/>
          </p:nvSpPr>
          <p:spPr>
            <a:xfrm flipH="false" flipV="false" rot="0">
              <a:off x="0" y="0"/>
              <a:ext cx="152400" cy="2232406"/>
            </a:xfrm>
            <a:custGeom>
              <a:avLst/>
              <a:gdLst/>
              <a:ahLst/>
              <a:cxnLst/>
              <a:rect r="r" b="b" t="t" l="l"/>
              <a:pathLst>
                <a:path h="2232406" w="152400">
                  <a:moveTo>
                    <a:pt x="0" y="43434"/>
                  </a:moveTo>
                  <a:cubicBezTo>
                    <a:pt x="0" y="19431"/>
                    <a:pt x="19431" y="0"/>
                    <a:pt x="43434" y="0"/>
                  </a:cubicBezTo>
                  <a:lnTo>
                    <a:pt x="108966" y="0"/>
                  </a:lnTo>
                  <a:cubicBezTo>
                    <a:pt x="132969" y="0"/>
                    <a:pt x="152400" y="19431"/>
                    <a:pt x="152400" y="43434"/>
                  </a:cubicBezTo>
                  <a:lnTo>
                    <a:pt x="152400" y="2188972"/>
                  </a:lnTo>
                  <a:cubicBezTo>
                    <a:pt x="152400" y="2212975"/>
                    <a:pt x="132969" y="2232406"/>
                    <a:pt x="108966" y="2232406"/>
                  </a:cubicBezTo>
                  <a:lnTo>
                    <a:pt x="43434" y="2232406"/>
                  </a:lnTo>
                  <a:cubicBezTo>
                    <a:pt x="19431" y="2232406"/>
                    <a:pt x="0" y="2212975"/>
                    <a:pt x="0" y="2188972"/>
                  </a:cubicBezTo>
                  <a:close/>
                </a:path>
              </a:pathLst>
            </a:custGeom>
            <a:solidFill>
              <a:srgbClr val="E04F00"/>
            </a:solidFill>
            <a:ln w="12700">
              <a:solidFill>
                <a:srgbClr val="000000"/>
              </a:solidFill>
            </a:ln>
          </p:spPr>
        </p:sp>
      </p:grpSp>
      <p:sp>
        <p:nvSpPr>
          <p:cNvPr name="TextBox 13" id="13"/>
          <p:cNvSpPr txBox="true"/>
          <p:nvPr/>
        </p:nvSpPr>
        <p:spPr>
          <a:xfrm rot="0">
            <a:off x="7950403" y="2586333"/>
            <a:ext cx="1976438" cy="336550"/>
          </a:xfrm>
          <a:prstGeom prst="rect">
            <a:avLst/>
          </a:prstGeom>
        </p:spPr>
        <p:txBody>
          <a:bodyPr anchor="t" rtlCol="false" tIns="0" lIns="0" bIns="0" rIns="0">
            <a:spAutoFit/>
          </a:bodyPr>
          <a:lstStyle/>
          <a:p>
            <a:pPr algn="l">
              <a:lnSpc>
                <a:spcPts val="2750"/>
              </a:lnSpc>
            </a:pPr>
            <a:r>
              <a:rPr lang="en-US" sz="2187" b="true">
                <a:solidFill>
                  <a:srgbClr val="383838"/>
                </a:solidFill>
                <a:latin typeface="PT Serif Bold"/>
                <a:ea typeface="PT Serif Bold"/>
                <a:cs typeface="PT Serif Bold"/>
                <a:sym typeface="PT Serif Bold"/>
              </a:rPr>
              <a:t>Limited Access</a:t>
            </a:r>
          </a:p>
        </p:txBody>
      </p:sp>
      <p:sp>
        <p:nvSpPr>
          <p:cNvPr name="TextBox 14" id="14"/>
          <p:cNvSpPr txBox="true"/>
          <p:nvPr/>
        </p:nvSpPr>
        <p:spPr>
          <a:xfrm rot="0">
            <a:off x="7950403" y="3025673"/>
            <a:ext cx="9330928" cy="752770"/>
          </a:xfrm>
          <a:prstGeom prst="rect">
            <a:avLst/>
          </a:prstGeom>
        </p:spPr>
        <p:txBody>
          <a:bodyPr anchor="t" rtlCol="false" tIns="0" lIns="0" bIns="0" rIns="0">
            <a:spAutoFit/>
          </a:bodyPr>
          <a:lstStyle/>
          <a:p>
            <a:pPr algn="l">
              <a:lnSpc>
                <a:spcPts val="2687"/>
              </a:lnSpc>
            </a:pPr>
            <a:r>
              <a:rPr lang="en-US" sz="1687">
                <a:solidFill>
                  <a:srgbClr val="383838"/>
                </a:solidFill>
                <a:latin typeface="DM Sans"/>
                <a:ea typeface="DM Sans"/>
                <a:cs typeface="DM Sans"/>
                <a:sym typeface="DM Sans"/>
              </a:rPr>
              <a:t>Geographical barriers, therapist shortages, and scheduling conflicts often prevent individuals from receiving timely mental health support.</a:t>
            </a:r>
          </a:p>
        </p:txBody>
      </p:sp>
      <p:grpSp>
        <p:nvGrpSpPr>
          <p:cNvPr name="Group 15" id="15"/>
          <p:cNvGrpSpPr/>
          <p:nvPr/>
        </p:nvGrpSpPr>
        <p:grpSpPr>
          <a:xfrm rot="0">
            <a:off x="7604522" y="4227309"/>
            <a:ext cx="9936956" cy="1702889"/>
            <a:chOff x="0" y="0"/>
            <a:chExt cx="13249275" cy="2270519"/>
          </a:xfrm>
        </p:grpSpPr>
        <p:sp>
          <p:nvSpPr>
            <p:cNvPr name="Freeform 16" id="16"/>
            <p:cNvSpPr/>
            <p:nvPr/>
          </p:nvSpPr>
          <p:spPr>
            <a:xfrm flipH="false" flipV="false" rot="0">
              <a:off x="19050" y="19050"/>
              <a:ext cx="13211175" cy="2232406"/>
            </a:xfrm>
            <a:custGeom>
              <a:avLst/>
              <a:gdLst/>
              <a:ahLst/>
              <a:cxnLst/>
              <a:rect r="r" b="b" t="t" l="l"/>
              <a:pathLst>
                <a:path h="2232406" w="13211175">
                  <a:moveTo>
                    <a:pt x="0" y="182880"/>
                  </a:moveTo>
                  <a:cubicBezTo>
                    <a:pt x="0" y="81915"/>
                    <a:pt x="83058" y="0"/>
                    <a:pt x="185420" y="0"/>
                  </a:cubicBezTo>
                  <a:lnTo>
                    <a:pt x="13025755" y="0"/>
                  </a:lnTo>
                  <a:cubicBezTo>
                    <a:pt x="13128244" y="0"/>
                    <a:pt x="13211175" y="81915"/>
                    <a:pt x="13211175" y="182880"/>
                  </a:cubicBezTo>
                  <a:lnTo>
                    <a:pt x="13211175" y="2049526"/>
                  </a:lnTo>
                  <a:cubicBezTo>
                    <a:pt x="13211175" y="2150491"/>
                    <a:pt x="13128118" y="2232406"/>
                    <a:pt x="13025755" y="2232406"/>
                  </a:cubicBezTo>
                  <a:lnTo>
                    <a:pt x="185420" y="2232406"/>
                  </a:lnTo>
                  <a:cubicBezTo>
                    <a:pt x="82931" y="2232406"/>
                    <a:pt x="0" y="2150491"/>
                    <a:pt x="0" y="2049526"/>
                  </a:cubicBezTo>
                  <a:close/>
                </a:path>
              </a:pathLst>
            </a:custGeom>
            <a:solidFill>
              <a:srgbClr val="FFFFFF"/>
            </a:solidFill>
            <a:ln w="12700">
              <a:solidFill>
                <a:srgbClr val="000000"/>
              </a:solidFill>
            </a:ln>
          </p:spPr>
        </p:sp>
        <p:sp>
          <p:nvSpPr>
            <p:cNvPr name="Freeform 17" id="17"/>
            <p:cNvSpPr/>
            <p:nvPr/>
          </p:nvSpPr>
          <p:spPr>
            <a:xfrm flipH="false" flipV="false" rot="0">
              <a:off x="0" y="0"/>
              <a:ext cx="13249275" cy="2270506"/>
            </a:xfrm>
            <a:custGeom>
              <a:avLst/>
              <a:gdLst/>
              <a:ahLst/>
              <a:cxnLst/>
              <a:rect r="r" b="b" t="t" l="l"/>
              <a:pathLst>
                <a:path h="2270506" w="13249275">
                  <a:moveTo>
                    <a:pt x="0" y="201930"/>
                  </a:moveTo>
                  <a:cubicBezTo>
                    <a:pt x="0" y="90170"/>
                    <a:pt x="91821" y="0"/>
                    <a:pt x="204470" y="0"/>
                  </a:cubicBezTo>
                  <a:lnTo>
                    <a:pt x="13044805" y="0"/>
                  </a:lnTo>
                  <a:lnTo>
                    <a:pt x="13044805" y="19050"/>
                  </a:lnTo>
                  <a:lnTo>
                    <a:pt x="13044805" y="0"/>
                  </a:lnTo>
                  <a:cubicBezTo>
                    <a:pt x="13157454" y="0"/>
                    <a:pt x="13249275" y="90170"/>
                    <a:pt x="13249275" y="201930"/>
                  </a:cubicBezTo>
                  <a:lnTo>
                    <a:pt x="13230225" y="201930"/>
                  </a:lnTo>
                  <a:lnTo>
                    <a:pt x="13249275" y="201930"/>
                  </a:lnTo>
                  <a:lnTo>
                    <a:pt x="13249275" y="2068576"/>
                  </a:lnTo>
                  <a:lnTo>
                    <a:pt x="13230225" y="2068576"/>
                  </a:lnTo>
                  <a:lnTo>
                    <a:pt x="13249275" y="2068576"/>
                  </a:lnTo>
                  <a:cubicBezTo>
                    <a:pt x="13249275" y="2180336"/>
                    <a:pt x="13157454" y="2270506"/>
                    <a:pt x="13044805" y="2270506"/>
                  </a:cubicBezTo>
                  <a:lnTo>
                    <a:pt x="13044805" y="2251456"/>
                  </a:lnTo>
                  <a:lnTo>
                    <a:pt x="13044805" y="2270506"/>
                  </a:lnTo>
                  <a:lnTo>
                    <a:pt x="204470" y="2270506"/>
                  </a:lnTo>
                  <a:lnTo>
                    <a:pt x="204470" y="2251456"/>
                  </a:lnTo>
                  <a:lnTo>
                    <a:pt x="204470" y="2270506"/>
                  </a:lnTo>
                  <a:cubicBezTo>
                    <a:pt x="91821" y="2270506"/>
                    <a:pt x="0" y="2180336"/>
                    <a:pt x="0" y="2068576"/>
                  </a:cubicBezTo>
                  <a:lnTo>
                    <a:pt x="0" y="201930"/>
                  </a:lnTo>
                  <a:lnTo>
                    <a:pt x="19050" y="201930"/>
                  </a:lnTo>
                  <a:lnTo>
                    <a:pt x="0" y="201930"/>
                  </a:lnTo>
                  <a:moveTo>
                    <a:pt x="38100" y="201930"/>
                  </a:moveTo>
                  <a:lnTo>
                    <a:pt x="38100" y="2068576"/>
                  </a:lnTo>
                  <a:lnTo>
                    <a:pt x="19050" y="2068576"/>
                  </a:lnTo>
                  <a:lnTo>
                    <a:pt x="38100" y="2068576"/>
                  </a:lnTo>
                  <a:cubicBezTo>
                    <a:pt x="38100" y="2158746"/>
                    <a:pt x="112395" y="2232406"/>
                    <a:pt x="204470" y="2232406"/>
                  </a:cubicBezTo>
                  <a:lnTo>
                    <a:pt x="13044805" y="2232406"/>
                  </a:lnTo>
                  <a:cubicBezTo>
                    <a:pt x="13137007" y="2232406"/>
                    <a:pt x="13211175" y="2158746"/>
                    <a:pt x="13211175" y="2068576"/>
                  </a:cubicBezTo>
                  <a:lnTo>
                    <a:pt x="13211175" y="201930"/>
                  </a:lnTo>
                  <a:cubicBezTo>
                    <a:pt x="13211175" y="111760"/>
                    <a:pt x="13136880" y="38100"/>
                    <a:pt x="13044805" y="38100"/>
                  </a:cubicBezTo>
                  <a:lnTo>
                    <a:pt x="204470" y="38100"/>
                  </a:lnTo>
                  <a:lnTo>
                    <a:pt x="204470" y="19050"/>
                  </a:lnTo>
                  <a:lnTo>
                    <a:pt x="204470" y="38100"/>
                  </a:lnTo>
                  <a:cubicBezTo>
                    <a:pt x="112395" y="38100"/>
                    <a:pt x="38100" y="111760"/>
                    <a:pt x="38100" y="201930"/>
                  </a:cubicBezTo>
                  <a:close/>
                </a:path>
              </a:pathLst>
            </a:custGeom>
            <a:solidFill>
              <a:srgbClr val="D8D4D4"/>
            </a:solidFill>
            <a:ln w="12700">
              <a:solidFill>
                <a:srgbClr val="000000"/>
              </a:solidFill>
            </a:ln>
          </p:spPr>
        </p:sp>
      </p:grpSp>
      <p:grpSp>
        <p:nvGrpSpPr>
          <p:cNvPr name="Group 18" id="18"/>
          <p:cNvGrpSpPr/>
          <p:nvPr/>
        </p:nvGrpSpPr>
        <p:grpSpPr>
          <a:xfrm rot="0">
            <a:off x="7590234" y="4241597"/>
            <a:ext cx="114300" cy="1674314"/>
            <a:chOff x="0" y="0"/>
            <a:chExt cx="152400" cy="2232419"/>
          </a:xfrm>
        </p:grpSpPr>
        <p:sp>
          <p:nvSpPr>
            <p:cNvPr name="Freeform 19" id="19"/>
            <p:cNvSpPr/>
            <p:nvPr/>
          </p:nvSpPr>
          <p:spPr>
            <a:xfrm flipH="false" flipV="false" rot="0">
              <a:off x="0" y="0"/>
              <a:ext cx="152400" cy="2232406"/>
            </a:xfrm>
            <a:custGeom>
              <a:avLst/>
              <a:gdLst/>
              <a:ahLst/>
              <a:cxnLst/>
              <a:rect r="r" b="b" t="t" l="l"/>
              <a:pathLst>
                <a:path h="2232406" w="152400">
                  <a:moveTo>
                    <a:pt x="0" y="43434"/>
                  </a:moveTo>
                  <a:cubicBezTo>
                    <a:pt x="0" y="19431"/>
                    <a:pt x="19431" y="0"/>
                    <a:pt x="43434" y="0"/>
                  </a:cubicBezTo>
                  <a:lnTo>
                    <a:pt x="108966" y="0"/>
                  </a:lnTo>
                  <a:cubicBezTo>
                    <a:pt x="132969" y="0"/>
                    <a:pt x="152400" y="19431"/>
                    <a:pt x="152400" y="43434"/>
                  </a:cubicBezTo>
                  <a:lnTo>
                    <a:pt x="152400" y="2188972"/>
                  </a:lnTo>
                  <a:cubicBezTo>
                    <a:pt x="152400" y="2212975"/>
                    <a:pt x="132969" y="2232406"/>
                    <a:pt x="108966" y="2232406"/>
                  </a:cubicBezTo>
                  <a:lnTo>
                    <a:pt x="43434" y="2232406"/>
                  </a:lnTo>
                  <a:cubicBezTo>
                    <a:pt x="19431" y="2232406"/>
                    <a:pt x="0" y="2212975"/>
                    <a:pt x="0" y="2188972"/>
                  </a:cubicBezTo>
                  <a:close/>
                </a:path>
              </a:pathLst>
            </a:custGeom>
            <a:solidFill>
              <a:srgbClr val="E04F00"/>
            </a:solidFill>
            <a:ln w="12700">
              <a:solidFill>
                <a:srgbClr val="000000"/>
              </a:solidFill>
            </a:ln>
          </p:spPr>
        </p:sp>
      </p:grpSp>
      <p:sp>
        <p:nvSpPr>
          <p:cNvPr name="TextBox 20" id="20"/>
          <p:cNvSpPr txBox="true"/>
          <p:nvPr/>
        </p:nvSpPr>
        <p:spPr>
          <a:xfrm rot="0">
            <a:off x="7950403" y="4477941"/>
            <a:ext cx="2300585" cy="336550"/>
          </a:xfrm>
          <a:prstGeom prst="rect">
            <a:avLst/>
          </a:prstGeom>
        </p:spPr>
        <p:txBody>
          <a:bodyPr anchor="t" rtlCol="false" tIns="0" lIns="0" bIns="0" rIns="0">
            <a:spAutoFit/>
          </a:bodyPr>
          <a:lstStyle/>
          <a:p>
            <a:pPr algn="l">
              <a:lnSpc>
                <a:spcPts val="2750"/>
              </a:lnSpc>
            </a:pPr>
            <a:r>
              <a:rPr lang="en-US" sz="2187" b="true">
                <a:solidFill>
                  <a:srgbClr val="383838"/>
                </a:solidFill>
                <a:latin typeface="PT Serif Bold"/>
                <a:ea typeface="PT Serif Bold"/>
                <a:cs typeface="PT Serif Bold"/>
                <a:sym typeface="PT Serif Bold"/>
              </a:rPr>
              <a:t>Privacy &amp; Stigma</a:t>
            </a:r>
          </a:p>
        </p:txBody>
      </p:sp>
      <p:sp>
        <p:nvSpPr>
          <p:cNvPr name="TextBox 21" id="21"/>
          <p:cNvSpPr txBox="true"/>
          <p:nvPr/>
        </p:nvSpPr>
        <p:spPr>
          <a:xfrm rot="0">
            <a:off x="7950403" y="4917281"/>
            <a:ext cx="9330928" cy="752770"/>
          </a:xfrm>
          <a:prstGeom prst="rect">
            <a:avLst/>
          </a:prstGeom>
        </p:spPr>
        <p:txBody>
          <a:bodyPr anchor="t" rtlCol="false" tIns="0" lIns="0" bIns="0" rIns="0">
            <a:spAutoFit/>
          </a:bodyPr>
          <a:lstStyle/>
          <a:p>
            <a:pPr algn="l">
              <a:lnSpc>
                <a:spcPts val="2687"/>
              </a:lnSpc>
            </a:pPr>
            <a:r>
              <a:rPr lang="en-US" sz="1687">
                <a:solidFill>
                  <a:srgbClr val="383838"/>
                </a:solidFill>
                <a:latin typeface="DM Sans"/>
                <a:ea typeface="DM Sans"/>
                <a:cs typeface="DM Sans"/>
                <a:sym typeface="DM Sans"/>
              </a:rPr>
              <a:t>Sensitive nature of mental health requires robust privacy measures and a discreet environment to overcome social stigma.</a:t>
            </a:r>
          </a:p>
        </p:txBody>
      </p:sp>
      <p:grpSp>
        <p:nvGrpSpPr>
          <p:cNvPr name="Group 22" id="22"/>
          <p:cNvGrpSpPr/>
          <p:nvPr/>
        </p:nvGrpSpPr>
        <p:grpSpPr>
          <a:xfrm rot="0">
            <a:off x="7604522" y="6118917"/>
            <a:ext cx="9936956" cy="1702889"/>
            <a:chOff x="0" y="0"/>
            <a:chExt cx="13249275" cy="2270519"/>
          </a:xfrm>
        </p:grpSpPr>
        <p:sp>
          <p:nvSpPr>
            <p:cNvPr name="Freeform 23" id="23"/>
            <p:cNvSpPr/>
            <p:nvPr/>
          </p:nvSpPr>
          <p:spPr>
            <a:xfrm flipH="false" flipV="false" rot="0">
              <a:off x="19050" y="19050"/>
              <a:ext cx="13211175" cy="2232406"/>
            </a:xfrm>
            <a:custGeom>
              <a:avLst/>
              <a:gdLst/>
              <a:ahLst/>
              <a:cxnLst/>
              <a:rect r="r" b="b" t="t" l="l"/>
              <a:pathLst>
                <a:path h="2232406" w="13211175">
                  <a:moveTo>
                    <a:pt x="0" y="182880"/>
                  </a:moveTo>
                  <a:cubicBezTo>
                    <a:pt x="0" y="81915"/>
                    <a:pt x="83058" y="0"/>
                    <a:pt x="185420" y="0"/>
                  </a:cubicBezTo>
                  <a:lnTo>
                    <a:pt x="13025755" y="0"/>
                  </a:lnTo>
                  <a:cubicBezTo>
                    <a:pt x="13128244" y="0"/>
                    <a:pt x="13211175" y="81915"/>
                    <a:pt x="13211175" y="182880"/>
                  </a:cubicBezTo>
                  <a:lnTo>
                    <a:pt x="13211175" y="2049526"/>
                  </a:lnTo>
                  <a:cubicBezTo>
                    <a:pt x="13211175" y="2150491"/>
                    <a:pt x="13128118" y="2232406"/>
                    <a:pt x="13025755" y="2232406"/>
                  </a:cubicBezTo>
                  <a:lnTo>
                    <a:pt x="185420" y="2232406"/>
                  </a:lnTo>
                  <a:cubicBezTo>
                    <a:pt x="82931" y="2232406"/>
                    <a:pt x="0" y="2150491"/>
                    <a:pt x="0" y="2049526"/>
                  </a:cubicBezTo>
                  <a:close/>
                </a:path>
              </a:pathLst>
            </a:custGeom>
            <a:solidFill>
              <a:srgbClr val="FFFFFF"/>
            </a:solidFill>
            <a:ln w="12700">
              <a:solidFill>
                <a:srgbClr val="000000"/>
              </a:solidFill>
            </a:ln>
          </p:spPr>
        </p:sp>
        <p:sp>
          <p:nvSpPr>
            <p:cNvPr name="Freeform 24" id="24"/>
            <p:cNvSpPr/>
            <p:nvPr/>
          </p:nvSpPr>
          <p:spPr>
            <a:xfrm flipH="false" flipV="false" rot="0">
              <a:off x="0" y="0"/>
              <a:ext cx="13249275" cy="2270506"/>
            </a:xfrm>
            <a:custGeom>
              <a:avLst/>
              <a:gdLst/>
              <a:ahLst/>
              <a:cxnLst/>
              <a:rect r="r" b="b" t="t" l="l"/>
              <a:pathLst>
                <a:path h="2270506" w="13249275">
                  <a:moveTo>
                    <a:pt x="0" y="201930"/>
                  </a:moveTo>
                  <a:cubicBezTo>
                    <a:pt x="0" y="90170"/>
                    <a:pt x="91821" y="0"/>
                    <a:pt x="204470" y="0"/>
                  </a:cubicBezTo>
                  <a:lnTo>
                    <a:pt x="13044805" y="0"/>
                  </a:lnTo>
                  <a:lnTo>
                    <a:pt x="13044805" y="19050"/>
                  </a:lnTo>
                  <a:lnTo>
                    <a:pt x="13044805" y="0"/>
                  </a:lnTo>
                  <a:cubicBezTo>
                    <a:pt x="13157454" y="0"/>
                    <a:pt x="13249275" y="90170"/>
                    <a:pt x="13249275" y="201930"/>
                  </a:cubicBezTo>
                  <a:lnTo>
                    <a:pt x="13230225" y="201930"/>
                  </a:lnTo>
                  <a:lnTo>
                    <a:pt x="13249275" y="201930"/>
                  </a:lnTo>
                  <a:lnTo>
                    <a:pt x="13249275" y="2068576"/>
                  </a:lnTo>
                  <a:lnTo>
                    <a:pt x="13230225" y="2068576"/>
                  </a:lnTo>
                  <a:lnTo>
                    <a:pt x="13249275" y="2068576"/>
                  </a:lnTo>
                  <a:cubicBezTo>
                    <a:pt x="13249275" y="2180336"/>
                    <a:pt x="13157454" y="2270506"/>
                    <a:pt x="13044805" y="2270506"/>
                  </a:cubicBezTo>
                  <a:lnTo>
                    <a:pt x="13044805" y="2251456"/>
                  </a:lnTo>
                  <a:lnTo>
                    <a:pt x="13044805" y="2270506"/>
                  </a:lnTo>
                  <a:lnTo>
                    <a:pt x="204470" y="2270506"/>
                  </a:lnTo>
                  <a:lnTo>
                    <a:pt x="204470" y="2251456"/>
                  </a:lnTo>
                  <a:lnTo>
                    <a:pt x="204470" y="2270506"/>
                  </a:lnTo>
                  <a:cubicBezTo>
                    <a:pt x="91821" y="2270506"/>
                    <a:pt x="0" y="2180336"/>
                    <a:pt x="0" y="2068576"/>
                  </a:cubicBezTo>
                  <a:lnTo>
                    <a:pt x="0" y="201930"/>
                  </a:lnTo>
                  <a:lnTo>
                    <a:pt x="19050" y="201930"/>
                  </a:lnTo>
                  <a:lnTo>
                    <a:pt x="0" y="201930"/>
                  </a:lnTo>
                  <a:moveTo>
                    <a:pt x="38100" y="201930"/>
                  </a:moveTo>
                  <a:lnTo>
                    <a:pt x="38100" y="2068576"/>
                  </a:lnTo>
                  <a:lnTo>
                    <a:pt x="19050" y="2068576"/>
                  </a:lnTo>
                  <a:lnTo>
                    <a:pt x="38100" y="2068576"/>
                  </a:lnTo>
                  <a:cubicBezTo>
                    <a:pt x="38100" y="2158746"/>
                    <a:pt x="112395" y="2232406"/>
                    <a:pt x="204470" y="2232406"/>
                  </a:cubicBezTo>
                  <a:lnTo>
                    <a:pt x="13044805" y="2232406"/>
                  </a:lnTo>
                  <a:cubicBezTo>
                    <a:pt x="13137007" y="2232406"/>
                    <a:pt x="13211175" y="2158746"/>
                    <a:pt x="13211175" y="2068576"/>
                  </a:cubicBezTo>
                  <a:lnTo>
                    <a:pt x="13211175" y="201930"/>
                  </a:lnTo>
                  <a:cubicBezTo>
                    <a:pt x="13211175" y="111760"/>
                    <a:pt x="13136880" y="38100"/>
                    <a:pt x="13044805" y="38100"/>
                  </a:cubicBezTo>
                  <a:lnTo>
                    <a:pt x="204470" y="38100"/>
                  </a:lnTo>
                  <a:lnTo>
                    <a:pt x="204470" y="19050"/>
                  </a:lnTo>
                  <a:lnTo>
                    <a:pt x="204470" y="38100"/>
                  </a:lnTo>
                  <a:cubicBezTo>
                    <a:pt x="112395" y="38100"/>
                    <a:pt x="38100" y="111760"/>
                    <a:pt x="38100" y="201930"/>
                  </a:cubicBezTo>
                  <a:close/>
                </a:path>
              </a:pathLst>
            </a:custGeom>
            <a:solidFill>
              <a:srgbClr val="D8D4D4"/>
            </a:solidFill>
            <a:ln w="12700">
              <a:solidFill>
                <a:srgbClr val="000000"/>
              </a:solidFill>
            </a:ln>
          </p:spPr>
        </p:sp>
      </p:grpSp>
      <p:grpSp>
        <p:nvGrpSpPr>
          <p:cNvPr name="Group 25" id="25"/>
          <p:cNvGrpSpPr/>
          <p:nvPr/>
        </p:nvGrpSpPr>
        <p:grpSpPr>
          <a:xfrm rot="0">
            <a:off x="7590234" y="6133205"/>
            <a:ext cx="114300" cy="1674314"/>
            <a:chOff x="0" y="0"/>
            <a:chExt cx="152400" cy="2232419"/>
          </a:xfrm>
        </p:grpSpPr>
        <p:sp>
          <p:nvSpPr>
            <p:cNvPr name="Freeform 26" id="26"/>
            <p:cNvSpPr/>
            <p:nvPr/>
          </p:nvSpPr>
          <p:spPr>
            <a:xfrm flipH="false" flipV="false" rot="0">
              <a:off x="0" y="0"/>
              <a:ext cx="152400" cy="2232406"/>
            </a:xfrm>
            <a:custGeom>
              <a:avLst/>
              <a:gdLst/>
              <a:ahLst/>
              <a:cxnLst/>
              <a:rect r="r" b="b" t="t" l="l"/>
              <a:pathLst>
                <a:path h="2232406" w="152400">
                  <a:moveTo>
                    <a:pt x="0" y="43434"/>
                  </a:moveTo>
                  <a:cubicBezTo>
                    <a:pt x="0" y="19431"/>
                    <a:pt x="19431" y="0"/>
                    <a:pt x="43434" y="0"/>
                  </a:cubicBezTo>
                  <a:lnTo>
                    <a:pt x="108966" y="0"/>
                  </a:lnTo>
                  <a:cubicBezTo>
                    <a:pt x="132969" y="0"/>
                    <a:pt x="152400" y="19431"/>
                    <a:pt x="152400" y="43434"/>
                  </a:cubicBezTo>
                  <a:lnTo>
                    <a:pt x="152400" y="2188972"/>
                  </a:lnTo>
                  <a:cubicBezTo>
                    <a:pt x="152400" y="2212975"/>
                    <a:pt x="132969" y="2232406"/>
                    <a:pt x="108966" y="2232406"/>
                  </a:cubicBezTo>
                  <a:lnTo>
                    <a:pt x="43434" y="2232406"/>
                  </a:lnTo>
                  <a:cubicBezTo>
                    <a:pt x="19431" y="2232406"/>
                    <a:pt x="0" y="2212975"/>
                    <a:pt x="0" y="2188972"/>
                  </a:cubicBezTo>
                  <a:close/>
                </a:path>
              </a:pathLst>
            </a:custGeom>
            <a:solidFill>
              <a:srgbClr val="E04F00"/>
            </a:solidFill>
            <a:ln w="12700">
              <a:solidFill>
                <a:srgbClr val="000000"/>
              </a:solidFill>
            </a:ln>
          </p:spPr>
        </p:sp>
      </p:grpSp>
      <p:sp>
        <p:nvSpPr>
          <p:cNvPr name="TextBox 27" id="27"/>
          <p:cNvSpPr txBox="true"/>
          <p:nvPr/>
        </p:nvSpPr>
        <p:spPr>
          <a:xfrm rot="0">
            <a:off x="7950403" y="6369548"/>
            <a:ext cx="3114377" cy="336550"/>
          </a:xfrm>
          <a:prstGeom prst="rect">
            <a:avLst/>
          </a:prstGeom>
        </p:spPr>
        <p:txBody>
          <a:bodyPr anchor="t" rtlCol="false" tIns="0" lIns="0" bIns="0" rIns="0">
            <a:spAutoFit/>
          </a:bodyPr>
          <a:lstStyle/>
          <a:p>
            <a:pPr algn="l">
              <a:lnSpc>
                <a:spcPts val="2750"/>
              </a:lnSpc>
            </a:pPr>
            <a:r>
              <a:rPr lang="en-US" sz="2187" b="true">
                <a:solidFill>
                  <a:srgbClr val="383838"/>
                </a:solidFill>
                <a:latin typeface="PT Serif Bold"/>
                <a:ea typeface="PT Serif Bold"/>
                <a:cs typeface="PT Serif Bold"/>
                <a:sym typeface="PT Serif Bold"/>
              </a:rPr>
              <a:t>Secure Digital Platform</a:t>
            </a:r>
          </a:p>
        </p:txBody>
      </p:sp>
      <p:sp>
        <p:nvSpPr>
          <p:cNvPr name="TextBox 28" id="28"/>
          <p:cNvSpPr txBox="true"/>
          <p:nvPr/>
        </p:nvSpPr>
        <p:spPr>
          <a:xfrm rot="0">
            <a:off x="7950403" y="6808889"/>
            <a:ext cx="9330928" cy="752770"/>
          </a:xfrm>
          <a:prstGeom prst="rect">
            <a:avLst/>
          </a:prstGeom>
        </p:spPr>
        <p:txBody>
          <a:bodyPr anchor="t" rtlCol="false" tIns="0" lIns="0" bIns="0" rIns="0">
            <a:spAutoFit/>
          </a:bodyPr>
          <a:lstStyle/>
          <a:p>
            <a:pPr algn="l">
              <a:lnSpc>
                <a:spcPts val="2687"/>
              </a:lnSpc>
            </a:pPr>
            <a:r>
              <a:rPr lang="en-US" sz="1687">
                <a:solidFill>
                  <a:srgbClr val="383838"/>
                </a:solidFill>
                <a:latin typeface="DM Sans"/>
                <a:ea typeface="DM Sans"/>
                <a:cs typeface="DM Sans"/>
                <a:sym typeface="DM Sans"/>
              </a:rPr>
              <a:t>The imperative for a digital solution that is not only secure and scalable but also capable of delivering diverse support features.</a:t>
            </a:r>
          </a:p>
        </p:txBody>
      </p:sp>
      <p:grpSp>
        <p:nvGrpSpPr>
          <p:cNvPr name="Group 29" id="29"/>
          <p:cNvGrpSpPr/>
          <p:nvPr/>
        </p:nvGrpSpPr>
        <p:grpSpPr>
          <a:xfrm rot="0">
            <a:off x="7604522" y="8010525"/>
            <a:ext cx="9936956" cy="1702889"/>
            <a:chOff x="0" y="0"/>
            <a:chExt cx="13249275" cy="2270519"/>
          </a:xfrm>
        </p:grpSpPr>
        <p:sp>
          <p:nvSpPr>
            <p:cNvPr name="Freeform 30" id="30"/>
            <p:cNvSpPr/>
            <p:nvPr/>
          </p:nvSpPr>
          <p:spPr>
            <a:xfrm flipH="false" flipV="false" rot="0">
              <a:off x="19050" y="19050"/>
              <a:ext cx="13211175" cy="2232406"/>
            </a:xfrm>
            <a:custGeom>
              <a:avLst/>
              <a:gdLst/>
              <a:ahLst/>
              <a:cxnLst/>
              <a:rect r="r" b="b" t="t" l="l"/>
              <a:pathLst>
                <a:path h="2232406" w="13211175">
                  <a:moveTo>
                    <a:pt x="0" y="182880"/>
                  </a:moveTo>
                  <a:cubicBezTo>
                    <a:pt x="0" y="81915"/>
                    <a:pt x="83058" y="0"/>
                    <a:pt x="185420" y="0"/>
                  </a:cubicBezTo>
                  <a:lnTo>
                    <a:pt x="13025755" y="0"/>
                  </a:lnTo>
                  <a:cubicBezTo>
                    <a:pt x="13128244" y="0"/>
                    <a:pt x="13211175" y="81915"/>
                    <a:pt x="13211175" y="182880"/>
                  </a:cubicBezTo>
                  <a:lnTo>
                    <a:pt x="13211175" y="2049526"/>
                  </a:lnTo>
                  <a:cubicBezTo>
                    <a:pt x="13211175" y="2150491"/>
                    <a:pt x="13128118" y="2232406"/>
                    <a:pt x="13025755" y="2232406"/>
                  </a:cubicBezTo>
                  <a:lnTo>
                    <a:pt x="185420" y="2232406"/>
                  </a:lnTo>
                  <a:cubicBezTo>
                    <a:pt x="82931" y="2232406"/>
                    <a:pt x="0" y="2150491"/>
                    <a:pt x="0" y="2049526"/>
                  </a:cubicBezTo>
                  <a:close/>
                </a:path>
              </a:pathLst>
            </a:custGeom>
            <a:solidFill>
              <a:srgbClr val="FFFFFF"/>
            </a:solidFill>
            <a:ln w="12700">
              <a:solidFill>
                <a:srgbClr val="000000"/>
              </a:solidFill>
            </a:ln>
          </p:spPr>
        </p:sp>
        <p:sp>
          <p:nvSpPr>
            <p:cNvPr name="Freeform 31" id="31"/>
            <p:cNvSpPr/>
            <p:nvPr/>
          </p:nvSpPr>
          <p:spPr>
            <a:xfrm flipH="false" flipV="false" rot="0">
              <a:off x="0" y="0"/>
              <a:ext cx="13249275" cy="2270506"/>
            </a:xfrm>
            <a:custGeom>
              <a:avLst/>
              <a:gdLst/>
              <a:ahLst/>
              <a:cxnLst/>
              <a:rect r="r" b="b" t="t" l="l"/>
              <a:pathLst>
                <a:path h="2270506" w="13249275">
                  <a:moveTo>
                    <a:pt x="0" y="201930"/>
                  </a:moveTo>
                  <a:cubicBezTo>
                    <a:pt x="0" y="90170"/>
                    <a:pt x="91821" y="0"/>
                    <a:pt x="204470" y="0"/>
                  </a:cubicBezTo>
                  <a:lnTo>
                    <a:pt x="13044805" y="0"/>
                  </a:lnTo>
                  <a:lnTo>
                    <a:pt x="13044805" y="19050"/>
                  </a:lnTo>
                  <a:lnTo>
                    <a:pt x="13044805" y="0"/>
                  </a:lnTo>
                  <a:cubicBezTo>
                    <a:pt x="13157454" y="0"/>
                    <a:pt x="13249275" y="90170"/>
                    <a:pt x="13249275" y="201930"/>
                  </a:cubicBezTo>
                  <a:lnTo>
                    <a:pt x="13230225" y="201930"/>
                  </a:lnTo>
                  <a:lnTo>
                    <a:pt x="13249275" y="201930"/>
                  </a:lnTo>
                  <a:lnTo>
                    <a:pt x="13249275" y="2068576"/>
                  </a:lnTo>
                  <a:lnTo>
                    <a:pt x="13230225" y="2068576"/>
                  </a:lnTo>
                  <a:lnTo>
                    <a:pt x="13249275" y="2068576"/>
                  </a:lnTo>
                  <a:cubicBezTo>
                    <a:pt x="13249275" y="2180336"/>
                    <a:pt x="13157454" y="2270506"/>
                    <a:pt x="13044805" y="2270506"/>
                  </a:cubicBezTo>
                  <a:lnTo>
                    <a:pt x="13044805" y="2251456"/>
                  </a:lnTo>
                  <a:lnTo>
                    <a:pt x="13044805" y="2270506"/>
                  </a:lnTo>
                  <a:lnTo>
                    <a:pt x="204470" y="2270506"/>
                  </a:lnTo>
                  <a:lnTo>
                    <a:pt x="204470" y="2251456"/>
                  </a:lnTo>
                  <a:lnTo>
                    <a:pt x="204470" y="2270506"/>
                  </a:lnTo>
                  <a:cubicBezTo>
                    <a:pt x="91821" y="2270506"/>
                    <a:pt x="0" y="2180336"/>
                    <a:pt x="0" y="2068576"/>
                  </a:cubicBezTo>
                  <a:lnTo>
                    <a:pt x="0" y="201930"/>
                  </a:lnTo>
                  <a:lnTo>
                    <a:pt x="19050" y="201930"/>
                  </a:lnTo>
                  <a:lnTo>
                    <a:pt x="0" y="201930"/>
                  </a:lnTo>
                  <a:moveTo>
                    <a:pt x="38100" y="201930"/>
                  </a:moveTo>
                  <a:lnTo>
                    <a:pt x="38100" y="2068576"/>
                  </a:lnTo>
                  <a:lnTo>
                    <a:pt x="19050" y="2068576"/>
                  </a:lnTo>
                  <a:lnTo>
                    <a:pt x="38100" y="2068576"/>
                  </a:lnTo>
                  <a:cubicBezTo>
                    <a:pt x="38100" y="2158746"/>
                    <a:pt x="112395" y="2232406"/>
                    <a:pt x="204470" y="2232406"/>
                  </a:cubicBezTo>
                  <a:lnTo>
                    <a:pt x="13044805" y="2232406"/>
                  </a:lnTo>
                  <a:cubicBezTo>
                    <a:pt x="13137007" y="2232406"/>
                    <a:pt x="13211175" y="2158746"/>
                    <a:pt x="13211175" y="2068576"/>
                  </a:cubicBezTo>
                  <a:lnTo>
                    <a:pt x="13211175" y="201930"/>
                  </a:lnTo>
                  <a:cubicBezTo>
                    <a:pt x="13211175" y="111760"/>
                    <a:pt x="13136880" y="38100"/>
                    <a:pt x="13044805" y="38100"/>
                  </a:cubicBezTo>
                  <a:lnTo>
                    <a:pt x="204470" y="38100"/>
                  </a:lnTo>
                  <a:lnTo>
                    <a:pt x="204470" y="19050"/>
                  </a:lnTo>
                  <a:lnTo>
                    <a:pt x="204470" y="38100"/>
                  </a:lnTo>
                  <a:cubicBezTo>
                    <a:pt x="112395" y="38100"/>
                    <a:pt x="38100" y="111760"/>
                    <a:pt x="38100" y="201930"/>
                  </a:cubicBezTo>
                  <a:close/>
                </a:path>
              </a:pathLst>
            </a:custGeom>
            <a:solidFill>
              <a:srgbClr val="D8D4D4"/>
            </a:solidFill>
            <a:ln w="12700">
              <a:solidFill>
                <a:srgbClr val="000000"/>
              </a:solidFill>
            </a:ln>
          </p:spPr>
        </p:sp>
      </p:grpSp>
      <p:grpSp>
        <p:nvGrpSpPr>
          <p:cNvPr name="Group 32" id="32"/>
          <p:cNvGrpSpPr/>
          <p:nvPr/>
        </p:nvGrpSpPr>
        <p:grpSpPr>
          <a:xfrm rot="0">
            <a:off x="7590234" y="8024812"/>
            <a:ext cx="114300" cy="1674314"/>
            <a:chOff x="0" y="0"/>
            <a:chExt cx="152400" cy="2232419"/>
          </a:xfrm>
        </p:grpSpPr>
        <p:sp>
          <p:nvSpPr>
            <p:cNvPr name="Freeform 33" id="33"/>
            <p:cNvSpPr/>
            <p:nvPr/>
          </p:nvSpPr>
          <p:spPr>
            <a:xfrm flipH="false" flipV="false" rot="0">
              <a:off x="0" y="0"/>
              <a:ext cx="152400" cy="2232406"/>
            </a:xfrm>
            <a:custGeom>
              <a:avLst/>
              <a:gdLst/>
              <a:ahLst/>
              <a:cxnLst/>
              <a:rect r="r" b="b" t="t" l="l"/>
              <a:pathLst>
                <a:path h="2232406" w="152400">
                  <a:moveTo>
                    <a:pt x="0" y="43434"/>
                  </a:moveTo>
                  <a:cubicBezTo>
                    <a:pt x="0" y="19431"/>
                    <a:pt x="19431" y="0"/>
                    <a:pt x="43434" y="0"/>
                  </a:cubicBezTo>
                  <a:lnTo>
                    <a:pt x="108966" y="0"/>
                  </a:lnTo>
                  <a:cubicBezTo>
                    <a:pt x="132969" y="0"/>
                    <a:pt x="152400" y="19431"/>
                    <a:pt x="152400" y="43434"/>
                  </a:cubicBezTo>
                  <a:lnTo>
                    <a:pt x="152400" y="2188972"/>
                  </a:lnTo>
                  <a:cubicBezTo>
                    <a:pt x="152400" y="2212975"/>
                    <a:pt x="132969" y="2232406"/>
                    <a:pt x="108966" y="2232406"/>
                  </a:cubicBezTo>
                  <a:lnTo>
                    <a:pt x="43434" y="2232406"/>
                  </a:lnTo>
                  <a:cubicBezTo>
                    <a:pt x="19431" y="2232406"/>
                    <a:pt x="0" y="2212975"/>
                    <a:pt x="0" y="2188972"/>
                  </a:cubicBezTo>
                  <a:close/>
                </a:path>
              </a:pathLst>
            </a:custGeom>
            <a:solidFill>
              <a:srgbClr val="E04F00"/>
            </a:solidFill>
            <a:ln w="12700">
              <a:solidFill>
                <a:srgbClr val="000000"/>
              </a:solidFill>
            </a:ln>
          </p:spPr>
        </p:sp>
      </p:grpSp>
      <p:sp>
        <p:nvSpPr>
          <p:cNvPr name="TextBox 34" id="34"/>
          <p:cNvSpPr txBox="true"/>
          <p:nvPr/>
        </p:nvSpPr>
        <p:spPr>
          <a:xfrm rot="0">
            <a:off x="7950403" y="8261147"/>
            <a:ext cx="3301603" cy="336550"/>
          </a:xfrm>
          <a:prstGeom prst="rect">
            <a:avLst/>
          </a:prstGeom>
        </p:spPr>
        <p:txBody>
          <a:bodyPr anchor="t" rtlCol="false" tIns="0" lIns="0" bIns="0" rIns="0">
            <a:spAutoFit/>
          </a:bodyPr>
          <a:lstStyle/>
          <a:p>
            <a:pPr algn="l">
              <a:lnSpc>
                <a:spcPts val="2750"/>
              </a:lnSpc>
            </a:pPr>
            <a:r>
              <a:rPr lang="en-US" sz="2187" b="true">
                <a:solidFill>
                  <a:srgbClr val="383838"/>
                </a:solidFill>
                <a:latin typeface="PT Serif Bold"/>
                <a:ea typeface="PT Serif Bold"/>
                <a:cs typeface="PT Serif Bold"/>
                <a:sym typeface="PT Serif Bold"/>
              </a:rPr>
              <a:t>Architectural Imperative</a:t>
            </a:r>
          </a:p>
        </p:txBody>
      </p:sp>
      <p:sp>
        <p:nvSpPr>
          <p:cNvPr name="TextBox 35" id="35"/>
          <p:cNvSpPr txBox="true"/>
          <p:nvPr/>
        </p:nvSpPr>
        <p:spPr>
          <a:xfrm rot="0">
            <a:off x="7950403" y="8700497"/>
            <a:ext cx="9330928" cy="752770"/>
          </a:xfrm>
          <a:prstGeom prst="rect">
            <a:avLst/>
          </a:prstGeom>
        </p:spPr>
        <p:txBody>
          <a:bodyPr anchor="t" rtlCol="false" tIns="0" lIns="0" bIns="0" rIns="0">
            <a:spAutoFit/>
          </a:bodyPr>
          <a:lstStyle/>
          <a:p>
            <a:pPr algn="l">
              <a:lnSpc>
                <a:spcPts val="2687"/>
              </a:lnSpc>
            </a:pPr>
            <a:r>
              <a:rPr lang="en-US" sz="1687">
                <a:solidFill>
                  <a:srgbClr val="383838"/>
                </a:solidFill>
                <a:latin typeface="DM Sans"/>
                <a:ea typeface="DM Sans"/>
                <a:cs typeface="DM Sans"/>
                <a:sym typeface="DM Sans"/>
              </a:rPr>
              <a:t>A well-conceived architecture is paramount to ensure the system's reliability, maintainability, and capacity to handle sensitive data effectively.</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AFA"/>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a:ln w="12700">
              <a:solidFill>
                <a:srgbClr val="000000"/>
              </a:solidFill>
            </a:ln>
          </p:spPr>
        </p:sp>
      </p:grpSp>
      <p:sp>
        <p:nvSpPr>
          <p:cNvPr name="TextBox 6" id="6"/>
          <p:cNvSpPr txBox="true"/>
          <p:nvPr/>
        </p:nvSpPr>
        <p:spPr>
          <a:xfrm rot="0">
            <a:off x="907104" y="693687"/>
            <a:ext cx="13558540" cy="827088"/>
          </a:xfrm>
          <a:prstGeom prst="rect">
            <a:avLst/>
          </a:prstGeom>
        </p:spPr>
        <p:txBody>
          <a:bodyPr anchor="t" rtlCol="false" tIns="0" lIns="0" bIns="0" rIns="0">
            <a:spAutoFit/>
          </a:bodyPr>
          <a:lstStyle/>
          <a:p>
            <a:pPr algn="l">
              <a:lnSpc>
                <a:spcPts val="6687"/>
              </a:lnSpc>
            </a:pPr>
            <a:r>
              <a:rPr lang="en-US" sz="5312" b="true">
                <a:solidFill>
                  <a:srgbClr val="020202"/>
                </a:solidFill>
                <a:latin typeface="PT Serif Bold"/>
                <a:ea typeface="PT Serif Bold"/>
                <a:cs typeface="PT Serif Bold"/>
                <a:sym typeface="PT Serif Bold"/>
              </a:rPr>
              <a:t>The Critical Role of Software Architecture</a:t>
            </a:r>
          </a:p>
        </p:txBody>
      </p:sp>
      <p:sp>
        <p:nvSpPr>
          <p:cNvPr name="TextBox 7" id="7"/>
          <p:cNvSpPr txBox="true"/>
          <p:nvPr/>
        </p:nvSpPr>
        <p:spPr>
          <a:xfrm rot="0">
            <a:off x="4620070" y="2062163"/>
            <a:ext cx="1640979" cy="417512"/>
          </a:xfrm>
          <a:prstGeom prst="rect">
            <a:avLst/>
          </a:prstGeom>
        </p:spPr>
        <p:txBody>
          <a:bodyPr anchor="t" rtlCol="false" tIns="0" lIns="0" bIns="0" rIns="0">
            <a:spAutoFit/>
          </a:bodyPr>
          <a:lstStyle/>
          <a:p>
            <a:pPr algn="r">
              <a:lnSpc>
                <a:spcPts val="3312"/>
              </a:lnSpc>
            </a:pPr>
            <a:r>
              <a:rPr lang="en-US" sz="2625" b="true">
                <a:solidFill>
                  <a:srgbClr val="383838"/>
                </a:solidFill>
                <a:latin typeface="PT Serif Bold"/>
                <a:ea typeface="PT Serif Bold"/>
                <a:cs typeface="PT Serif Bold"/>
                <a:sym typeface="PT Serif Bold"/>
              </a:rPr>
              <a:t>Definition</a:t>
            </a:r>
          </a:p>
        </p:txBody>
      </p:sp>
      <p:sp>
        <p:nvSpPr>
          <p:cNvPr name="TextBox 8" id="8"/>
          <p:cNvSpPr txBox="true"/>
          <p:nvPr/>
        </p:nvSpPr>
        <p:spPr>
          <a:xfrm rot="0">
            <a:off x="907104" y="2576065"/>
            <a:ext cx="5353945" cy="2158155"/>
          </a:xfrm>
          <a:prstGeom prst="rect">
            <a:avLst/>
          </a:prstGeom>
        </p:spPr>
        <p:txBody>
          <a:bodyPr anchor="t" rtlCol="false" tIns="0" lIns="0" bIns="0" rIns="0">
            <a:spAutoFit/>
          </a:bodyPr>
          <a:lstStyle/>
          <a:p>
            <a:pPr algn="r">
              <a:lnSpc>
                <a:spcPts val="3250"/>
              </a:lnSpc>
            </a:pPr>
            <a:r>
              <a:rPr lang="en-US" sz="2000">
                <a:solidFill>
                  <a:srgbClr val="383838"/>
                </a:solidFill>
                <a:latin typeface="DM Sans"/>
                <a:ea typeface="DM Sans"/>
                <a:cs typeface="DM Sans"/>
                <a:sym typeface="DM Sans"/>
              </a:rPr>
              <a:t>Software architecture defines the fundamental structures of a software system, outlining its components, their relationships, and the principles guiding its design and evolution.</a:t>
            </a:r>
          </a:p>
        </p:txBody>
      </p:sp>
      <p:sp>
        <p:nvSpPr>
          <p:cNvPr name="Freeform 9" id="9" descr="preencoded.png"/>
          <p:cNvSpPr/>
          <p:nvPr/>
        </p:nvSpPr>
        <p:spPr>
          <a:xfrm flipH="false" flipV="false" rot="0">
            <a:off x="6261049" y="2944863"/>
            <a:ext cx="5765749" cy="5765749"/>
          </a:xfrm>
          <a:custGeom>
            <a:avLst/>
            <a:gdLst/>
            <a:ahLst/>
            <a:cxnLst/>
            <a:rect r="r" b="b" t="t" l="l"/>
            <a:pathLst>
              <a:path h="5765749" w="5765749">
                <a:moveTo>
                  <a:pt x="0" y="0"/>
                </a:moveTo>
                <a:lnTo>
                  <a:pt x="5765749" y="0"/>
                </a:lnTo>
                <a:lnTo>
                  <a:pt x="5765749" y="5765749"/>
                </a:lnTo>
                <a:lnTo>
                  <a:pt x="0" y="5765749"/>
                </a:lnTo>
                <a:lnTo>
                  <a:pt x="0" y="0"/>
                </a:lnTo>
                <a:close/>
              </a:path>
            </a:pathLst>
          </a:custGeom>
          <a:blipFill>
            <a:blip r:embed="rId3"/>
            <a:stretch>
              <a:fillRect l="0" t="0" r="0" b="0"/>
            </a:stretch>
          </a:blipFill>
        </p:spPr>
      </p:sp>
      <p:sp>
        <p:nvSpPr>
          <p:cNvPr name="Freeform 10" id="10" descr="preencoded.png"/>
          <p:cNvSpPr/>
          <p:nvPr/>
        </p:nvSpPr>
        <p:spPr>
          <a:xfrm flipH="false" flipV="false" rot="0">
            <a:off x="8219256" y="4359697"/>
            <a:ext cx="364331" cy="364331"/>
          </a:xfrm>
          <a:custGeom>
            <a:avLst/>
            <a:gdLst/>
            <a:ahLst/>
            <a:cxnLst/>
            <a:rect r="r" b="b" t="t" l="l"/>
            <a:pathLst>
              <a:path h="364331" w="364331">
                <a:moveTo>
                  <a:pt x="0" y="0"/>
                </a:moveTo>
                <a:lnTo>
                  <a:pt x="364331" y="0"/>
                </a:lnTo>
                <a:lnTo>
                  <a:pt x="364331" y="364332"/>
                </a:lnTo>
                <a:lnTo>
                  <a:pt x="0" y="364332"/>
                </a:lnTo>
                <a:lnTo>
                  <a:pt x="0" y="0"/>
                </a:lnTo>
                <a:close/>
              </a:path>
            </a:pathLst>
          </a:custGeom>
          <a:blipFill>
            <a:blip r:embed="rId4">
              <a:extLst>
                <a:ext uri="{96DAC541-7B7A-43D3-8B79-37D633B846F1}">
                  <asvg:svgBlip xmlns:asvg="http://schemas.microsoft.com/office/drawing/2016/SVG/main" r:embed="rId5"/>
                </a:ext>
              </a:extLst>
            </a:blip>
            <a:stretch>
              <a:fillRect l="0" t="-10256" r="0" b="-10256"/>
            </a:stretch>
          </a:blipFill>
        </p:spPr>
      </p:sp>
      <p:sp>
        <p:nvSpPr>
          <p:cNvPr name="TextBox 11" id="11"/>
          <p:cNvSpPr txBox="true"/>
          <p:nvPr/>
        </p:nvSpPr>
        <p:spPr>
          <a:xfrm rot="0">
            <a:off x="12026798" y="2269331"/>
            <a:ext cx="3031778" cy="417512"/>
          </a:xfrm>
          <a:prstGeom prst="rect">
            <a:avLst/>
          </a:prstGeom>
        </p:spPr>
        <p:txBody>
          <a:bodyPr anchor="t" rtlCol="false" tIns="0" lIns="0" bIns="0" rIns="0">
            <a:spAutoFit/>
          </a:bodyPr>
          <a:lstStyle/>
          <a:p>
            <a:pPr algn="l">
              <a:lnSpc>
                <a:spcPts val="3312"/>
              </a:lnSpc>
            </a:pPr>
            <a:r>
              <a:rPr lang="en-US" sz="2625" b="true">
                <a:solidFill>
                  <a:srgbClr val="383838"/>
                </a:solidFill>
                <a:latin typeface="PT Serif Bold"/>
                <a:ea typeface="PT Serif Bold"/>
                <a:cs typeface="PT Serif Bold"/>
                <a:sym typeface="PT Serif Bold"/>
              </a:rPr>
              <a:t>Strategic Decisions</a:t>
            </a:r>
          </a:p>
        </p:txBody>
      </p:sp>
      <p:sp>
        <p:nvSpPr>
          <p:cNvPr name="TextBox 12" id="12"/>
          <p:cNvSpPr txBox="true"/>
          <p:nvPr/>
        </p:nvSpPr>
        <p:spPr>
          <a:xfrm rot="0">
            <a:off x="12026798" y="2783234"/>
            <a:ext cx="5354088" cy="1743666"/>
          </a:xfrm>
          <a:prstGeom prst="rect">
            <a:avLst/>
          </a:prstGeom>
        </p:spPr>
        <p:txBody>
          <a:bodyPr anchor="t" rtlCol="false" tIns="0" lIns="0" bIns="0" rIns="0">
            <a:spAutoFit/>
          </a:bodyPr>
          <a:lstStyle/>
          <a:p>
            <a:pPr algn="l">
              <a:lnSpc>
                <a:spcPts val="3250"/>
              </a:lnSpc>
            </a:pPr>
            <a:r>
              <a:rPr lang="en-US" sz="2000">
                <a:solidFill>
                  <a:srgbClr val="383838"/>
                </a:solidFill>
                <a:latin typeface="DM Sans"/>
                <a:ea typeface="DM Sans"/>
                <a:cs typeface="DM Sans"/>
                <a:sym typeface="DM Sans"/>
              </a:rPr>
              <a:t>Architectural choices are crucial as they impact every aspect of the system, from development to deployment and future enhancements.</a:t>
            </a:r>
          </a:p>
        </p:txBody>
      </p:sp>
      <p:sp>
        <p:nvSpPr>
          <p:cNvPr name="Freeform 13" id="13" descr="preencoded.png"/>
          <p:cNvSpPr/>
          <p:nvPr/>
        </p:nvSpPr>
        <p:spPr>
          <a:xfrm flipH="false" flipV="false" rot="0">
            <a:off x="6261049" y="2944863"/>
            <a:ext cx="5765749" cy="5765749"/>
          </a:xfrm>
          <a:custGeom>
            <a:avLst/>
            <a:gdLst/>
            <a:ahLst/>
            <a:cxnLst/>
            <a:rect r="r" b="b" t="t" l="l"/>
            <a:pathLst>
              <a:path h="5765749" w="5765749">
                <a:moveTo>
                  <a:pt x="0" y="0"/>
                </a:moveTo>
                <a:lnTo>
                  <a:pt x="5765749" y="0"/>
                </a:lnTo>
                <a:lnTo>
                  <a:pt x="5765749" y="5765749"/>
                </a:lnTo>
                <a:lnTo>
                  <a:pt x="0" y="5765749"/>
                </a:lnTo>
                <a:lnTo>
                  <a:pt x="0" y="0"/>
                </a:lnTo>
                <a:close/>
              </a:path>
            </a:pathLst>
          </a:custGeom>
          <a:blipFill>
            <a:blip r:embed="rId6"/>
            <a:stretch>
              <a:fillRect l="0" t="0" r="0" b="0"/>
            </a:stretch>
          </a:blipFill>
        </p:spPr>
      </p:sp>
      <p:sp>
        <p:nvSpPr>
          <p:cNvPr name="Freeform 14" id="14" descr="preencoded.png"/>
          <p:cNvSpPr/>
          <p:nvPr/>
        </p:nvSpPr>
        <p:spPr>
          <a:xfrm flipH="false" flipV="false" rot="0">
            <a:off x="9703965" y="4359697"/>
            <a:ext cx="364331" cy="364331"/>
          </a:xfrm>
          <a:custGeom>
            <a:avLst/>
            <a:gdLst/>
            <a:ahLst/>
            <a:cxnLst/>
            <a:rect r="r" b="b" t="t" l="l"/>
            <a:pathLst>
              <a:path h="364331" w="364331">
                <a:moveTo>
                  <a:pt x="0" y="0"/>
                </a:moveTo>
                <a:lnTo>
                  <a:pt x="364331" y="0"/>
                </a:lnTo>
                <a:lnTo>
                  <a:pt x="364331" y="364332"/>
                </a:lnTo>
                <a:lnTo>
                  <a:pt x="0" y="36433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5" id="15"/>
          <p:cNvSpPr txBox="true"/>
          <p:nvPr/>
        </p:nvSpPr>
        <p:spPr>
          <a:xfrm rot="0">
            <a:off x="12545016" y="5103914"/>
            <a:ext cx="1666577" cy="417512"/>
          </a:xfrm>
          <a:prstGeom prst="rect">
            <a:avLst/>
          </a:prstGeom>
        </p:spPr>
        <p:txBody>
          <a:bodyPr anchor="t" rtlCol="false" tIns="0" lIns="0" bIns="0" rIns="0">
            <a:spAutoFit/>
          </a:bodyPr>
          <a:lstStyle/>
          <a:p>
            <a:pPr algn="l">
              <a:lnSpc>
                <a:spcPts val="3312"/>
              </a:lnSpc>
            </a:pPr>
            <a:r>
              <a:rPr lang="en-US" sz="2625" b="true">
                <a:solidFill>
                  <a:srgbClr val="383838"/>
                </a:solidFill>
                <a:latin typeface="PT Serif Bold"/>
                <a:ea typeface="PT Serif Bold"/>
                <a:cs typeface="PT Serif Bold"/>
                <a:sym typeface="PT Serif Bold"/>
              </a:rPr>
              <a:t>Scalability</a:t>
            </a:r>
          </a:p>
        </p:txBody>
      </p:sp>
      <p:sp>
        <p:nvSpPr>
          <p:cNvPr name="TextBox 16" id="16"/>
          <p:cNvSpPr txBox="true"/>
          <p:nvPr/>
        </p:nvSpPr>
        <p:spPr>
          <a:xfrm rot="0">
            <a:off x="12545016" y="5617816"/>
            <a:ext cx="4835871" cy="1743666"/>
          </a:xfrm>
          <a:prstGeom prst="rect">
            <a:avLst/>
          </a:prstGeom>
        </p:spPr>
        <p:txBody>
          <a:bodyPr anchor="t" rtlCol="false" tIns="0" lIns="0" bIns="0" rIns="0">
            <a:spAutoFit/>
          </a:bodyPr>
          <a:lstStyle/>
          <a:p>
            <a:pPr algn="l">
              <a:lnSpc>
                <a:spcPts val="3250"/>
              </a:lnSpc>
            </a:pPr>
            <a:r>
              <a:rPr lang="en-US" sz="2000">
                <a:solidFill>
                  <a:srgbClr val="383838"/>
                </a:solidFill>
                <a:latin typeface="DM Sans"/>
                <a:ea typeface="DM Sans"/>
                <a:cs typeface="DM Sans"/>
                <a:sym typeface="DM Sans"/>
              </a:rPr>
              <a:t>Ensures the system can gracefully handle increasing user loads and data volumes without compromising performance.</a:t>
            </a:r>
          </a:p>
        </p:txBody>
      </p:sp>
      <p:sp>
        <p:nvSpPr>
          <p:cNvPr name="Freeform 17" id="17" descr="preencoded.png"/>
          <p:cNvSpPr/>
          <p:nvPr/>
        </p:nvSpPr>
        <p:spPr>
          <a:xfrm flipH="false" flipV="false" rot="0">
            <a:off x="6261049" y="2944863"/>
            <a:ext cx="5765749" cy="5765749"/>
          </a:xfrm>
          <a:custGeom>
            <a:avLst/>
            <a:gdLst/>
            <a:ahLst/>
            <a:cxnLst/>
            <a:rect r="r" b="b" t="t" l="l"/>
            <a:pathLst>
              <a:path h="5765749" w="5765749">
                <a:moveTo>
                  <a:pt x="0" y="0"/>
                </a:moveTo>
                <a:lnTo>
                  <a:pt x="5765749" y="0"/>
                </a:lnTo>
                <a:lnTo>
                  <a:pt x="5765749" y="5765749"/>
                </a:lnTo>
                <a:lnTo>
                  <a:pt x="0" y="5765749"/>
                </a:lnTo>
                <a:lnTo>
                  <a:pt x="0" y="0"/>
                </a:lnTo>
                <a:close/>
              </a:path>
            </a:pathLst>
          </a:custGeom>
          <a:blipFill>
            <a:blip r:embed="rId9"/>
            <a:stretch>
              <a:fillRect l="0" t="0" r="0" b="0"/>
            </a:stretch>
          </a:blipFill>
        </p:spPr>
      </p:sp>
      <p:sp>
        <p:nvSpPr>
          <p:cNvPr name="Freeform 18" id="18" descr="preencoded.png"/>
          <p:cNvSpPr/>
          <p:nvPr/>
        </p:nvSpPr>
        <p:spPr>
          <a:xfrm flipH="false" flipV="false" rot="0">
            <a:off x="10446325" y="5645420"/>
            <a:ext cx="364331" cy="364331"/>
          </a:xfrm>
          <a:custGeom>
            <a:avLst/>
            <a:gdLst/>
            <a:ahLst/>
            <a:cxnLst/>
            <a:rect r="r" b="b" t="t" l="l"/>
            <a:pathLst>
              <a:path h="364331" w="364331">
                <a:moveTo>
                  <a:pt x="0" y="0"/>
                </a:moveTo>
                <a:lnTo>
                  <a:pt x="364331" y="0"/>
                </a:lnTo>
                <a:lnTo>
                  <a:pt x="364331" y="364331"/>
                </a:lnTo>
                <a:lnTo>
                  <a:pt x="0" y="364331"/>
                </a:lnTo>
                <a:lnTo>
                  <a:pt x="0" y="0"/>
                </a:lnTo>
                <a:close/>
              </a:path>
            </a:pathLst>
          </a:custGeom>
          <a:blipFill>
            <a:blip r:embed="rId10">
              <a:extLst>
                <a:ext uri="{96DAC541-7B7A-43D3-8B79-37D633B846F1}">
                  <asvg:svgBlip xmlns:asvg="http://schemas.microsoft.com/office/drawing/2016/SVG/main" r:embed="rId11"/>
                </a:ext>
              </a:extLst>
            </a:blip>
            <a:stretch>
              <a:fillRect l="-15385" t="0" r="-15383" b="0"/>
            </a:stretch>
          </a:blipFill>
        </p:spPr>
      </p:sp>
      <p:sp>
        <p:nvSpPr>
          <p:cNvPr name="TextBox 19" id="19"/>
          <p:cNvSpPr txBox="true"/>
          <p:nvPr/>
        </p:nvSpPr>
        <p:spPr>
          <a:xfrm rot="0">
            <a:off x="12026798" y="7731176"/>
            <a:ext cx="1297186" cy="417512"/>
          </a:xfrm>
          <a:prstGeom prst="rect">
            <a:avLst/>
          </a:prstGeom>
        </p:spPr>
        <p:txBody>
          <a:bodyPr anchor="t" rtlCol="false" tIns="0" lIns="0" bIns="0" rIns="0">
            <a:spAutoFit/>
          </a:bodyPr>
          <a:lstStyle/>
          <a:p>
            <a:pPr algn="l">
              <a:lnSpc>
                <a:spcPts val="3312"/>
              </a:lnSpc>
            </a:pPr>
            <a:r>
              <a:rPr lang="en-US" sz="2625" b="true">
                <a:solidFill>
                  <a:srgbClr val="383838"/>
                </a:solidFill>
                <a:latin typeface="PT Serif Bold"/>
                <a:ea typeface="PT Serif Bold"/>
                <a:cs typeface="PT Serif Bold"/>
                <a:sym typeface="PT Serif Bold"/>
              </a:rPr>
              <a:t>Security</a:t>
            </a:r>
          </a:p>
        </p:txBody>
      </p:sp>
      <p:sp>
        <p:nvSpPr>
          <p:cNvPr name="TextBox 20" id="20"/>
          <p:cNvSpPr txBox="true"/>
          <p:nvPr/>
        </p:nvSpPr>
        <p:spPr>
          <a:xfrm rot="0">
            <a:off x="12026798" y="8245078"/>
            <a:ext cx="5354088" cy="1329185"/>
          </a:xfrm>
          <a:prstGeom prst="rect">
            <a:avLst/>
          </a:prstGeom>
        </p:spPr>
        <p:txBody>
          <a:bodyPr anchor="t" rtlCol="false" tIns="0" lIns="0" bIns="0" rIns="0">
            <a:spAutoFit/>
          </a:bodyPr>
          <a:lstStyle/>
          <a:p>
            <a:pPr algn="l">
              <a:lnSpc>
                <a:spcPts val="3250"/>
              </a:lnSpc>
            </a:pPr>
            <a:r>
              <a:rPr lang="en-US" sz="2000">
                <a:solidFill>
                  <a:srgbClr val="383838"/>
                </a:solidFill>
                <a:latin typeface="DM Sans"/>
                <a:ea typeface="DM Sans"/>
                <a:cs typeface="DM Sans"/>
                <a:sym typeface="DM Sans"/>
              </a:rPr>
              <a:t>Foundation for protecting sensitive data and ensuring system integrity against potential threats.</a:t>
            </a:r>
          </a:p>
        </p:txBody>
      </p:sp>
      <p:sp>
        <p:nvSpPr>
          <p:cNvPr name="Freeform 21" id="21" descr="preencoded.png"/>
          <p:cNvSpPr/>
          <p:nvPr/>
        </p:nvSpPr>
        <p:spPr>
          <a:xfrm flipH="false" flipV="false" rot="0">
            <a:off x="6261049" y="2944863"/>
            <a:ext cx="5765749" cy="5765749"/>
          </a:xfrm>
          <a:custGeom>
            <a:avLst/>
            <a:gdLst/>
            <a:ahLst/>
            <a:cxnLst/>
            <a:rect r="r" b="b" t="t" l="l"/>
            <a:pathLst>
              <a:path h="5765749" w="5765749">
                <a:moveTo>
                  <a:pt x="0" y="0"/>
                </a:moveTo>
                <a:lnTo>
                  <a:pt x="5765749" y="0"/>
                </a:lnTo>
                <a:lnTo>
                  <a:pt x="5765749" y="5765749"/>
                </a:lnTo>
                <a:lnTo>
                  <a:pt x="0" y="5765749"/>
                </a:lnTo>
                <a:lnTo>
                  <a:pt x="0" y="0"/>
                </a:lnTo>
                <a:close/>
              </a:path>
            </a:pathLst>
          </a:custGeom>
          <a:blipFill>
            <a:blip r:embed="rId12"/>
            <a:stretch>
              <a:fillRect l="0" t="0" r="0" b="0"/>
            </a:stretch>
          </a:blipFill>
        </p:spPr>
      </p:sp>
      <p:sp>
        <p:nvSpPr>
          <p:cNvPr name="Freeform 22" id="22" descr="preencoded.png"/>
          <p:cNvSpPr/>
          <p:nvPr/>
        </p:nvSpPr>
        <p:spPr>
          <a:xfrm flipH="false" flipV="false" rot="0">
            <a:off x="9703965" y="6931152"/>
            <a:ext cx="364331" cy="364331"/>
          </a:xfrm>
          <a:custGeom>
            <a:avLst/>
            <a:gdLst/>
            <a:ahLst/>
            <a:cxnLst/>
            <a:rect r="r" b="b" t="t" l="l"/>
            <a:pathLst>
              <a:path h="364331" w="364331">
                <a:moveTo>
                  <a:pt x="0" y="0"/>
                </a:moveTo>
                <a:lnTo>
                  <a:pt x="364331" y="0"/>
                </a:lnTo>
                <a:lnTo>
                  <a:pt x="364331" y="364331"/>
                </a:lnTo>
                <a:lnTo>
                  <a:pt x="0" y="364331"/>
                </a:lnTo>
                <a:lnTo>
                  <a:pt x="0" y="0"/>
                </a:lnTo>
                <a:close/>
              </a:path>
            </a:pathLst>
          </a:custGeom>
          <a:blipFill>
            <a:blip r:embed="rId13">
              <a:extLst>
                <a:ext uri="{96DAC541-7B7A-43D3-8B79-37D633B846F1}">
                  <asvg:svgBlip xmlns:asvg="http://schemas.microsoft.com/office/drawing/2016/SVG/main" r:embed="rId14"/>
                </a:ext>
              </a:extLst>
            </a:blip>
            <a:stretch>
              <a:fillRect l="0" t="-12820" r="0" b="-12820"/>
            </a:stretch>
          </a:blipFill>
        </p:spPr>
      </p:sp>
      <p:sp>
        <p:nvSpPr>
          <p:cNvPr name="TextBox 23" id="23"/>
          <p:cNvSpPr txBox="true"/>
          <p:nvPr/>
        </p:nvSpPr>
        <p:spPr>
          <a:xfrm rot="0">
            <a:off x="3772941" y="7731176"/>
            <a:ext cx="2488109" cy="417512"/>
          </a:xfrm>
          <a:prstGeom prst="rect">
            <a:avLst/>
          </a:prstGeom>
        </p:spPr>
        <p:txBody>
          <a:bodyPr anchor="t" rtlCol="false" tIns="0" lIns="0" bIns="0" rIns="0">
            <a:spAutoFit/>
          </a:bodyPr>
          <a:lstStyle/>
          <a:p>
            <a:pPr algn="r">
              <a:lnSpc>
                <a:spcPts val="3312"/>
              </a:lnSpc>
            </a:pPr>
            <a:r>
              <a:rPr lang="en-US" sz="2625" b="true">
                <a:solidFill>
                  <a:srgbClr val="383838"/>
                </a:solidFill>
                <a:latin typeface="PT Serif Bold"/>
                <a:ea typeface="PT Serif Bold"/>
                <a:cs typeface="PT Serif Bold"/>
                <a:sym typeface="PT Serif Bold"/>
              </a:rPr>
              <a:t>Maintainability</a:t>
            </a:r>
          </a:p>
        </p:txBody>
      </p:sp>
      <p:sp>
        <p:nvSpPr>
          <p:cNvPr name="TextBox 24" id="24"/>
          <p:cNvSpPr txBox="true"/>
          <p:nvPr/>
        </p:nvSpPr>
        <p:spPr>
          <a:xfrm rot="0">
            <a:off x="907104" y="8245078"/>
            <a:ext cx="5353945" cy="1329185"/>
          </a:xfrm>
          <a:prstGeom prst="rect">
            <a:avLst/>
          </a:prstGeom>
        </p:spPr>
        <p:txBody>
          <a:bodyPr anchor="t" rtlCol="false" tIns="0" lIns="0" bIns="0" rIns="0">
            <a:spAutoFit/>
          </a:bodyPr>
          <a:lstStyle/>
          <a:p>
            <a:pPr algn="r">
              <a:lnSpc>
                <a:spcPts val="3250"/>
              </a:lnSpc>
            </a:pPr>
            <a:r>
              <a:rPr lang="en-US" sz="2000">
                <a:solidFill>
                  <a:srgbClr val="383838"/>
                </a:solidFill>
                <a:latin typeface="DM Sans"/>
                <a:ea typeface="DM Sans"/>
                <a:cs typeface="DM Sans"/>
                <a:sym typeface="DM Sans"/>
              </a:rPr>
              <a:t>Influences the ease with which the system can be modified, updated, and debugged over its lifecycle.</a:t>
            </a:r>
          </a:p>
        </p:txBody>
      </p:sp>
      <p:sp>
        <p:nvSpPr>
          <p:cNvPr name="Freeform 25" id="25" descr="preencoded.png"/>
          <p:cNvSpPr/>
          <p:nvPr/>
        </p:nvSpPr>
        <p:spPr>
          <a:xfrm flipH="false" flipV="false" rot="0">
            <a:off x="6261049" y="2944863"/>
            <a:ext cx="5765749" cy="5765749"/>
          </a:xfrm>
          <a:custGeom>
            <a:avLst/>
            <a:gdLst/>
            <a:ahLst/>
            <a:cxnLst/>
            <a:rect r="r" b="b" t="t" l="l"/>
            <a:pathLst>
              <a:path h="5765749" w="5765749">
                <a:moveTo>
                  <a:pt x="0" y="0"/>
                </a:moveTo>
                <a:lnTo>
                  <a:pt x="5765749" y="0"/>
                </a:lnTo>
                <a:lnTo>
                  <a:pt x="5765749" y="5765749"/>
                </a:lnTo>
                <a:lnTo>
                  <a:pt x="0" y="5765749"/>
                </a:lnTo>
                <a:lnTo>
                  <a:pt x="0" y="0"/>
                </a:lnTo>
                <a:close/>
              </a:path>
            </a:pathLst>
          </a:custGeom>
          <a:blipFill>
            <a:blip r:embed="rId15"/>
            <a:stretch>
              <a:fillRect l="0" t="0" r="0" b="0"/>
            </a:stretch>
          </a:blipFill>
        </p:spPr>
      </p:sp>
      <p:sp>
        <p:nvSpPr>
          <p:cNvPr name="Freeform 26" id="26" descr="preencoded.png"/>
          <p:cNvSpPr/>
          <p:nvPr/>
        </p:nvSpPr>
        <p:spPr>
          <a:xfrm flipH="false" flipV="false" rot="0">
            <a:off x="8219256" y="6931152"/>
            <a:ext cx="364331" cy="364331"/>
          </a:xfrm>
          <a:custGeom>
            <a:avLst/>
            <a:gdLst/>
            <a:ahLst/>
            <a:cxnLst/>
            <a:rect r="r" b="b" t="t" l="l"/>
            <a:pathLst>
              <a:path h="364331" w="364331">
                <a:moveTo>
                  <a:pt x="0" y="0"/>
                </a:moveTo>
                <a:lnTo>
                  <a:pt x="364331" y="0"/>
                </a:lnTo>
                <a:lnTo>
                  <a:pt x="364331" y="364331"/>
                </a:lnTo>
                <a:lnTo>
                  <a:pt x="0" y="364331"/>
                </a:lnTo>
                <a:lnTo>
                  <a:pt x="0" y="0"/>
                </a:lnTo>
                <a:close/>
              </a:path>
            </a:pathLst>
          </a:custGeom>
          <a:blipFill>
            <a:blip r:embed="rId16">
              <a:extLst>
                <a:ext uri="{96DAC541-7B7A-43D3-8B79-37D633B846F1}">
                  <asvg:svgBlip xmlns:asvg="http://schemas.microsoft.com/office/drawing/2016/SVG/main" r:embed="rId17"/>
                </a:ext>
              </a:extLst>
            </a:blip>
            <a:stretch>
              <a:fillRect l="0" t="-55129" r="0" b="-55126"/>
            </a:stretch>
          </a:blipFill>
        </p:spPr>
      </p:sp>
      <p:sp>
        <p:nvSpPr>
          <p:cNvPr name="TextBox 27" id="27"/>
          <p:cNvSpPr txBox="true"/>
          <p:nvPr/>
        </p:nvSpPr>
        <p:spPr>
          <a:xfrm rot="0">
            <a:off x="3967908" y="5103914"/>
            <a:ext cx="1774924" cy="417512"/>
          </a:xfrm>
          <a:prstGeom prst="rect">
            <a:avLst/>
          </a:prstGeom>
        </p:spPr>
        <p:txBody>
          <a:bodyPr anchor="t" rtlCol="false" tIns="0" lIns="0" bIns="0" rIns="0">
            <a:spAutoFit/>
          </a:bodyPr>
          <a:lstStyle/>
          <a:p>
            <a:pPr algn="r">
              <a:lnSpc>
                <a:spcPts val="3312"/>
              </a:lnSpc>
            </a:pPr>
            <a:r>
              <a:rPr lang="en-US" sz="2625" b="true">
                <a:solidFill>
                  <a:srgbClr val="383838"/>
                </a:solidFill>
                <a:latin typeface="PT Serif Bold"/>
                <a:ea typeface="PT Serif Bold"/>
                <a:cs typeface="PT Serif Bold"/>
                <a:sym typeface="PT Serif Bold"/>
              </a:rPr>
              <a:t>Modularity</a:t>
            </a:r>
          </a:p>
        </p:txBody>
      </p:sp>
      <p:sp>
        <p:nvSpPr>
          <p:cNvPr name="TextBox 28" id="28"/>
          <p:cNvSpPr txBox="true"/>
          <p:nvPr/>
        </p:nvSpPr>
        <p:spPr>
          <a:xfrm rot="0">
            <a:off x="907104" y="5617816"/>
            <a:ext cx="4835728" cy="1743666"/>
          </a:xfrm>
          <a:prstGeom prst="rect">
            <a:avLst/>
          </a:prstGeom>
        </p:spPr>
        <p:txBody>
          <a:bodyPr anchor="t" rtlCol="false" tIns="0" lIns="0" bIns="0" rIns="0">
            <a:spAutoFit/>
          </a:bodyPr>
          <a:lstStyle/>
          <a:p>
            <a:pPr algn="r">
              <a:lnSpc>
                <a:spcPts val="3250"/>
              </a:lnSpc>
            </a:pPr>
            <a:r>
              <a:rPr lang="en-US" sz="2000">
                <a:solidFill>
                  <a:srgbClr val="383838"/>
                </a:solidFill>
                <a:latin typeface="DM Sans"/>
                <a:ea typeface="DM Sans"/>
                <a:cs typeface="DM Sans"/>
                <a:sym typeface="DM Sans"/>
              </a:rPr>
              <a:t>Promotes independent development and deployment of components, simplifying complexity and fostering innovation.</a:t>
            </a:r>
          </a:p>
        </p:txBody>
      </p:sp>
      <p:sp>
        <p:nvSpPr>
          <p:cNvPr name="Freeform 29" id="29" descr="preencoded.png"/>
          <p:cNvSpPr/>
          <p:nvPr/>
        </p:nvSpPr>
        <p:spPr>
          <a:xfrm flipH="false" flipV="false" rot="0">
            <a:off x="6261049" y="2944863"/>
            <a:ext cx="5765749" cy="5765749"/>
          </a:xfrm>
          <a:custGeom>
            <a:avLst/>
            <a:gdLst/>
            <a:ahLst/>
            <a:cxnLst/>
            <a:rect r="r" b="b" t="t" l="l"/>
            <a:pathLst>
              <a:path h="5765749" w="5765749">
                <a:moveTo>
                  <a:pt x="0" y="0"/>
                </a:moveTo>
                <a:lnTo>
                  <a:pt x="5765749" y="0"/>
                </a:lnTo>
                <a:lnTo>
                  <a:pt x="5765749" y="5765749"/>
                </a:lnTo>
                <a:lnTo>
                  <a:pt x="0" y="5765749"/>
                </a:lnTo>
                <a:lnTo>
                  <a:pt x="0" y="0"/>
                </a:lnTo>
                <a:close/>
              </a:path>
            </a:pathLst>
          </a:custGeom>
          <a:blipFill>
            <a:blip r:embed="rId18"/>
            <a:stretch>
              <a:fillRect l="0" t="0" r="0" b="0"/>
            </a:stretch>
          </a:blipFill>
        </p:spPr>
      </p:sp>
      <p:sp>
        <p:nvSpPr>
          <p:cNvPr name="Freeform 30" id="30" descr="preencoded.png"/>
          <p:cNvSpPr/>
          <p:nvPr/>
        </p:nvSpPr>
        <p:spPr>
          <a:xfrm flipH="false" flipV="false" rot="0">
            <a:off x="7476906" y="5645420"/>
            <a:ext cx="364331" cy="364331"/>
          </a:xfrm>
          <a:custGeom>
            <a:avLst/>
            <a:gdLst/>
            <a:ahLst/>
            <a:cxnLst/>
            <a:rect r="r" b="b" t="t" l="l"/>
            <a:pathLst>
              <a:path h="364331" w="364331">
                <a:moveTo>
                  <a:pt x="0" y="0"/>
                </a:moveTo>
                <a:lnTo>
                  <a:pt x="364331" y="0"/>
                </a:lnTo>
                <a:lnTo>
                  <a:pt x="364331" y="364331"/>
                </a:lnTo>
                <a:lnTo>
                  <a:pt x="0" y="364331"/>
                </a:lnTo>
                <a:lnTo>
                  <a:pt x="0" y="0"/>
                </a:lnTo>
                <a:close/>
              </a:path>
            </a:pathLst>
          </a:custGeom>
          <a:blipFill>
            <a:blip r:embed="rId19">
              <a:extLst>
                <a:ext uri="{96DAC541-7B7A-43D3-8B79-37D633B846F1}">
                  <asvg:svgBlip xmlns:asvg="http://schemas.microsoft.com/office/drawing/2016/SVG/main" r:embed="rId20"/>
                </a:ext>
              </a:extLst>
            </a:blip>
            <a:stretch>
              <a:fillRect l="0" t="-11537" r="0" b="-11539"/>
            </a:stretch>
          </a:blipFill>
        </p:spPr>
      </p:sp>
    </p:spTree>
  </p:cSld>
  <p:clrMapOvr>
    <a:masterClrMapping/>
  </p:clrMapOvr>
  <p:transition spd="fast">
    <p:fade/>
  </p:transition>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AFA"/>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a:ln w="12700">
              <a:solidFill>
                <a:srgbClr val="000000"/>
              </a:solidFill>
            </a:ln>
          </p:spPr>
        </p:sp>
      </p:grpSp>
      <p:sp>
        <p:nvSpPr>
          <p:cNvPr name="TextBox 6" id="6"/>
          <p:cNvSpPr txBox="true"/>
          <p:nvPr/>
        </p:nvSpPr>
        <p:spPr>
          <a:xfrm rot="0">
            <a:off x="792509" y="676723"/>
            <a:ext cx="9775775" cy="719138"/>
          </a:xfrm>
          <a:prstGeom prst="rect">
            <a:avLst/>
          </a:prstGeom>
        </p:spPr>
        <p:txBody>
          <a:bodyPr anchor="t" rtlCol="false" tIns="0" lIns="0" bIns="0" rIns="0">
            <a:spAutoFit/>
          </a:bodyPr>
          <a:lstStyle/>
          <a:p>
            <a:pPr algn="l">
              <a:lnSpc>
                <a:spcPts val="5812"/>
              </a:lnSpc>
            </a:pPr>
            <a:r>
              <a:rPr lang="en-US" sz="4625" b="true">
                <a:solidFill>
                  <a:srgbClr val="020202"/>
                </a:solidFill>
                <a:latin typeface="PT Serif Bold"/>
                <a:ea typeface="PT Serif Bold"/>
                <a:cs typeface="PT Serif Bold"/>
                <a:sym typeface="PT Serif Bold"/>
              </a:rPr>
              <a:t>Exploring Architectural Paradigms</a:t>
            </a:r>
          </a:p>
        </p:txBody>
      </p:sp>
      <p:grpSp>
        <p:nvGrpSpPr>
          <p:cNvPr name="Group 7" id="7"/>
          <p:cNvGrpSpPr/>
          <p:nvPr/>
        </p:nvGrpSpPr>
        <p:grpSpPr>
          <a:xfrm rot="0">
            <a:off x="792509" y="1891608"/>
            <a:ext cx="905770" cy="1358798"/>
            <a:chOff x="0" y="0"/>
            <a:chExt cx="1207694" cy="1811731"/>
          </a:xfrm>
        </p:grpSpPr>
        <p:sp>
          <p:nvSpPr>
            <p:cNvPr name="Freeform 8" id="8"/>
            <p:cNvSpPr/>
            <p:nvPr/>
          </p:nvSpPr>
          <p:spPr>
            <a:xfrm flipH="false" flipV="false" rot="0">
              <a:off x="0" y="0"/>
              <a:ext cx="1207643" cy="1811782"/>
            </a:xfrm>
            <a:custGeom>
              <a:avLst/>
              <a:gdLst/>
              <a:ahLst/>
              <a:cxnLst/>
              <a:rect r="r" b="b" t="t" l="l"/>
              <a:pathLst>
                <a:path h="1811782" w="1207643">
                  <a:moveTo>
                    <a:pt x="0" y="603885"/>
                  </a:moveTo>
                  <a:cubicBezTo>
                    <a:pt x="0" y="270383"/>
                    <a:pt x="270383" y="0"/>
                    <a:pt x="603885" y="0"/>
                  </a:cubicBezTo>
                  <a:cubicBezTo>
                    <a:pt x="937387" y="0"/>
                    <a:pt x="1207643" y="270383"/>
                    <a:pt x="1207643" y="603885"/>
                  </a:cubicBezTo>
                  <a:lnTo>
                    <a:pt x="1207643" y="1207897"/>
                  </a:lnTo>
                  <a:cubicBezTo>
                    <a:pt x="1207643" y="1541399"/>
                    <a:pt x="937260" y="1811782"/>
                    <a:pt x="603758" y="1811782"/>
                  </a:cubicBezTo>
                  <a:cubicBezTo>
                    <a:pt x="270256" y="1811782"/>
                    <a:pt x="0" y="1541399"/>
                    <a:pt x="0" y="1207897"/>
                  </a:cubicBezTo>
                  <a:close/>
                </a:path>
              </a:pathLst>
            </a:custGeom>
            <a:solidFill>
              <a:srgbClr val="F2EEEE"/>
            </a:solidFill>
            <a:ln w="12700">
              <a:solidFill>
                <a:srgbClr val="000000"/>
              </a:solidFill>
            </a:ln>
          </p:spPr>
        </p:sp>
      </p:grpSp>
      <p:sp>
        <p:nvSpPr>
          <p:cNvPr name="TextBox 9" id="9"/>
          <p:cNvSpPr txBox="true"/>
          <p:nvPr/>
        </p:nvSpPr>
        <p:spPr>
          <a:xfrm rot="0">
            <a:off x="1075582" y="2406253"/>
            <a:ext cx="339623" cy="376980"/>
          </a:xfrm>
          <a:prstGeom prst="rect">
            <a:avLst/>
          </a:prstGeom>
        </p:spPr>
        <p:txBody>
          <a:bodyPr anchor="t" rtlCol="false" tIns="0" lIns="0" bIns="0" rIns="0">
            <a:spAutoFit/>
          </a:bodyPr>
          <a:lstStyle/>
          <a:p>
            <a:pPr algn="l">
              <a:lnSpc>
                <a:spcPts val="2625"/>
              </a:lnSpc>
            </a:pPr>
            <a:r>
              <a:rPr lang="en-US" sz="2625">
                <a:solidFill>
                  <a:srgbClr val="383838"/>
                </a:solidFill>
                <a:latin typeface="PT Serif"/>
                <a:ea typeface="PT Serif"/>
                <a:cs typeface="PT Serif"/>
                <a:sym typeface="PT Serif"/>
              </a:rPr>
              <a:t>1</a:t>
            </a:r>
          </a:p>
        </p:txBody>
      </p:sp>
      <p:sp>
        <p:nvSpPr>
          <p:cNvPr name="TextBox 10" id="10"/>
          <p:cNvSpPr txBox="true"/>
          <p:nvPr/>
        </p:nvSpPr>
        <p:spPr>
          <a:xfrm rot="0">
            <a:off x="1924641" y="2117969"/>
            <a:ext cx="1551087" cy="349250"/>
          </a:xfrm>
          <a:prstGeom prst="rect">
            <a:avLst/>
          </a:prstGeom>
        </p:spPr>
        <p:txBody>
          <a:bodyPr anchor="t" rtlCol="false" tIns="0" lIns="0" bIns="0" rIns="0">
            <a:spAutoFit/>
          </a:bodyPr>
          <a:lstStyle/>
          <a:p>
            <a:pPr algn="l">
              <a:lnSpc>
                <a:spcPts val="2875"/>
              </a:lnSpc>
            </a:pPr>
            <a:r>
              <a:rPr lang="en-US" sz="2312" b="true">
                <a:solidFill>
                  <a:srgbClr val="383838"/>
                </a:solidFill>
                <a:latin typeface="PT Serif Bold"/>
                <a:ea typeface="PT Serif Bold"/>
                <a:cs typeface="PT Serif Bold"/>
                <a:sym typeface="PT Serif Bold"/>
              </a:rPr>
              <a:t>Monolithic</a:t>
            </a:r>
          </a:p>
        </p:txBody>
      </p:sp>
      <p:sp>
        <p:nvSpPr>
          <p:cNvPr name="TextBox 11" id="11"/>
          <p:cNvSpPr txBox="true"/>
          <p:nvPr/>
        </p:nvSpPr>
        <p:spPr>
          <a:xfrm rot="0">
            <a:off x="1924641" y="2558653"/>
            <a:ext cx="15570841" cy="429073"/>
          </a:xfrm>
          <a:prstGeom prst="rect">
            <a:avLst/>
          </a:prstGeom>
        </p:spPr>
        <p:txBody>
          <a:bodyPr anchor="t" rtlCol="false" tIns="0" lIns="0" bIns="0" rIns="0">
            <a:spAutoFit/>
          </a:bodyPr>
          <a:lstStyle/>
          <a:p>
            <a:pPr algn="l">
              <a:lnSpc>
                <a:spcPts val="2812"/>
              </a:lnSpc>
            </a:pPr>
            <a:r>
              <a:rPr lang="en-US" sz="1750">
                <a:solidFill>
                  <a:srgbClr val="383838"/>
                </a:solidFill>
                <a:latin typeface="DM Sans"/>
                <a:ea typeface="DM Sans"/>
                <a:cs typeface="DM Sans"/>
                <a:sym typeface="DM Sans"/>
              </a:rPr>
              <a:t>A single, unified codebase where all components are tightly coupled. Simple to develop initially but challenging to scale and maintain.</a:t>
            </a:r>
          </a:p>
        </p:txBody>
      </p:sp>
      <p:grpSp>
        <p:nvGrpSpPr>
          <p:cNvPr name="Group 12" id="12"/>
          <p:cNvGrpSpPr/>
          <p:nvPr/>
        </p:nvGrpSpPr>
        <p:grpSpPr>
          <a:xfrm rot="0">
            <a:off x="792509" y="3476777"/>
            <a:ext cx="905770" cy="1358798"/>
            <a:chOff x="0" y="0"/>
            <a:chExt cx="1207694" cy="1811731"/>
          </a:xfrm>
        </p:grpSpPr>
        <p:sp>
          <p:nvSpPr>
            <p:cNvPr name="Freeform 13" id="13"/>
            <p:cNvSpPr/>
            <p:nvPr/>
          </p:nvSpPr>
          <p:spPr>
            <a:xfrm flipH="false" flipV="false" rot="0">
              <a:off x="0" y="0"/>
              <a:ext cx="1207643" cy="1811782"/>
            </a:xfrm>
            <a:custGeom>
              <a:avLst/>
              <a:gdLst/>
              <a:ahLst/>
              <a:cxnLst/>
              <a:rect r="r" b="b" t="t" l="l"/>
              <a:pathLst>
                <a:path h="1811782" w="1207643">
                  <a:moveTo>
                    <a:pt x="0" y="603885"/>
                  </a:moveTo>
                  <a:cubicBezTo>
                    <a:pt x="0" y="270383"/>
                    <a:pt x="270383" y="0"/>
                    <a:pt x="603885" y="0"/>
                  </a:cubicBezTo>
                  <a:cubicBezTo>
                    <a:pt x="937387" y="0"/>
                    <a:pt x="1207643" y="270383"/>
                    <a:pt x="1207643" y="603885"/>
                  </a:cubicBezTo>
                  <a:lnTo>
                    <a:pt x="1207643" y="1207897"/>
                  </a:lnTo>
                  <a:cubicBezTo>
                    <a:pt x="1207643" y="1541399"/>
                    <a:pt x="937260" y="1811782"/>
                    <a:pt x="603758" y="1811782"/>
                  </a:cubicBezTo>
                  <a:cubicBezTo>
                    <a:pt x="270256" y="1811782"/>
                    <a:pt x="0" y="1541399"/>
                    <a:pt x="0" y="1207897"/>
                  </a:cubicBezTo>
                  <a:close/>
                </a:path>
              </a:pathLst>
            </a:custGeom>
            <a:solidFill>
              <a:srgbClr val="F2EEEE"/>
            </a:solidFill>
            <a:ln w="12700">
              <a:solidFill>
                <a:srgbClr val="000000"/>
              </a:solidFill>
            </a:ln>
          </p:spPr>
        </p:sp>
      </p:grpSp>
      <p:sp>
        <p:nvSpPr>
          <p:cNvPr name="TextBox 14" id="14"/>
          <p:cNvSpPr txBox="true"/>
          <p:nvPr/>
        </p:nvSpPr>
        <p:spPr>
          <a:xfrm rot="0">
            <a:off x="1075582" y="3991423"/>
            <a:ext cx="339623" cy="376980"/>
          </a:xfrm>
          <a:prstGeom prst="rect">
            <a:avLst/>
          </a:prstGeom>
        </p:spPr>
        <p:txBody>
          <a:bodyPr anchor="t" rtlCol="false" tIns="0" lIns="0" bIns="0" rIns="0">
            <a:spAutoFit/>
          </a:bodyPr>
          <a:lstStyle/>
          <a:p>
            <a:pPr algn="l">
              <a:lnSpc>
                <a:spcPts val="2625"/>
              </a:lnSpc>
            </a:pPr>
            <a:r>
              <a:rPr lang="en-US" sz="2625">
                <a:solidFill>
                  <a:srgbClr val="383838"/>
                </a:solidFill>
                <a:latin typeface="PT Serif"/>
                <a:ea typeface="PT Serif"/>
                <a:cs typeface="PT Serif"/>
                <a:sym typeface="PT Serif"/>
              </a:rPr>
              <a:t>2</a:t>
            </a:r>
          </a:p>
        </p:txBody>
      </p:sp>
      <p:sp>
        <p:nvSpPr>
          <p:cNvPr name="TextBox 15" id="15"/>
          <p:cNvSpPr txBox="true"/>
          <p:nvPr/>
        </p:nvSpPr>
        <p:spPr>
          <a:xfrm rot="0">
            <a:off x="1924641" y="3703139"/>
            <a:ext cx="1862882" cy="349250"/>
          </a:xfrm>
          <a:prstGeom prst="rect">
            <a:avLst/>
          </a:prstGeom>
        </p:spPr>
        <p:txBody>
          <a:bodyPr anchor="t" rtlCol="false" tIns="0" lIns="0" bIns="0" rIns="0">
            <a:spAutoFit/>
          </a:bodyPr>
          <a:lstStyle/>
          <a:p>
            <a:pPr algn="l">
              <a:lnSpc>
                <a:spcPts val="2875"/>
              </a:lnSpc>
            </a:pPr>
            <a:r>
              <a:rPr lang="en-US" sz="2312" b="true">
                <a:solidFill>
                  <a:srgbClr val="383838"/>
                </a:solidFill>
                <a:latin typeface="PT Serif Bold"/>
                <a:ea typeface="PT Serif Bold"/>
                <a:cs typeface="PT Serif Bold"/>
                <a:sym typeface="PT Serif Bold"/>
              </a:rPr>
              <a:t>Client-Server</a:t>
            </a:r>
          </a:p>
        </p:txBody>
      </p:sp>
      <p:sp>
        <p:nvSpPr>
          <p:cNvPr name="TextBox 16" id="16"/>
          <p:cNvSpPr txBox="true"/>
          <p:nvPr/>
        </p:nvSpPr>
        <p:spPr>
          <a:xfrm rot="0">
            <a:off x="1924641" y="4143823"/>
            <a:ext cx="15570841" cy="429073"/>
          </a:xfrm>
          <a:prstGeom prst="rect">
            <a:avLst/>
          </a:prstGeom>
        </p:spPr>
        <p:txBody>
          <a:bodyPr anchor="t" rtlCol="false" tIns="0" lIns="0" bIns="0" rIns="0">
            <a:spAutoFit/>
          </a:bodyPr>
          <a:lstStyle/>
          <a:p>
            <a:pPr algn="l">
              <a:lnSpc>
                <a:spcPts val="2812"/>
              </a:lnSpc>
            </a:pPr>
            <a:r>
              <a:rPr lang="en-US" sz="1750">
                <a:solidFill>
                  <a:srgbClr val="383838"/>
                </a:solidFill>
                <a:latin typeface="DM Sans"/>
                <a:ea typeface="DM Sans"/>
                <a:cs typeface="DM Sans"/>
                <a:sym typeface="DM Sans"/>
              </a:rPr>
              <a:t>Separates client-side user interface from server-side data management. Facilitates distributed computing and resource sharing.</a:t>
            </a:r>
          </a:p>
        </p:txBody>
      </p:sp>
      <p:grpSp>
        <p:nvGrpSpPr>
          <p:cNvPr name="Group 17" id="17"/>
          <p:cNvGrpSpPr/>
          <p:nvPr/>
        </p:nvGrpSpPr>
        <p:grpSpPr>
          <a:xfrm rot="0">
            <a:off x="792509" y="5061947"/>
            <a:ext cx="905770" cy="1358798"/>
            <a:chOff x="0" y="0"/>
            <a:chExt cx="1207694" cy="1811731"/>
          </a:xfrm>
        </p:grpSpPr>
        <p:sp>
          <p:nvSpPr>
            <p:cNvPr name="Freeform 18" id="18"/>
            <p:cNvSpPr/>
            <p:nvPr/>
          </p:nvSpPr>
          <p:spPr>
            <a:xfrm flipH="false" flipV="false" rot="0">
              <a:off x="0" y="0"/>
              <a:ext cx="1207643" cy="1811782"/>
            </a:xfrm>
            <a:custGeom>
              <a:avLst/>
              <a:gdLst/>
              <a:ahLst/>
              <a:cxnLst/>
              <a:rect r="r" b="b" t="t" l="l"/>
              <a:pathLst>
                <a:path h="1811782" w="1207643">
                  <a:moveTo>
                    <a:pt x="0" y="603885"/>
                  </a:moveTo>
                  <a:cubicBezTo>
                    <a:pt x="0" y="270383"/>
                    <a:pt x="270383" y="0"/>
                    <a:pt x="603885" y="0"/>
                  </a:cubicBezTo>
                  <a:cubicBezTo>
                    <a:pt x="937387" y="0"/>
                    <a:pt x="1207643" y="270383"/>
                    <a:pt x="1207643" y="603885"/>
                  </a:cubicBezTo>
                  <a:lnTo>
                    <a:pt x="1207643" y="1207897"/>
                  </a:lnTo>
                  <a:cubicBezTo>
                    <a:pt x="1207643" y="1541399"/>
                    <a:pt x="937260" y="1811782"/>
                    <a:pt x="603758" y="1811782"/>
                  </a:cubicBezTo>
                  <a:cubicBezTo>
                    <a:pt x="270256" y="1811782"/>
                    <a:pt x="0" y="1541399"/>
                    <a:pt x="0" y="1207897"/>
                  </a:cubicBezTo>
                  <a:close/>
                </a:path>
              </a:pathLst>
            </a:custGeom>
            <a:solidFill>
              <a:srgbClr val="F2EEEE"/>
            </a:solidFill>
            <a:ln w="12700">
              <a:solidFill>
                <a:srgbClr val="000000"/>
              </a:solidFill>
            </a:ln>
          </p:spPr>
        </p:sp>
      </p:grpSp>
      <p:sp>
        <p:nvSpPr>
          <p:cNvPr name="TextBox 19" id="19"/>
          <p:cNvSpPr txBox="true"/>
          <p:nvPr/>
        </p:nvSpPr>
        <p:spPr>
          <a:xfrm rot="0">
            <a:off x="1075582" y="5576592"/>
            <a:ext cx="339623" cy="376980"/>
          </a:xfrm>
          <a:prstGeom prst="rect">
            <a:avLst/>
          </a:prstGeom>
        </p:spPr>
        <p:txBody>
          <a:bodyPr anchor="t" rtlCol="false" tIns="0" lIns="0" bIns="0" rIns="0">
            <a:spAutoFit/>
          </a:bodyPr>
          <a:lstStyle/>
          <a:p>
            <a:pPr algn="l">
              <a:lnSpc>
                <a:spcPts val="2625"/>
              </a:lnSpc>
            </a:pPr>
            <a:r>
              <a:rPr lang="en-US" sz="2625">
                <a:solidFill>
                  <a:srgbClr val="383838"/>
                </a:solidFill>
                <a:latin typeface="PT Serif"/>
                <a:ea typeface="PT Serif"/>
                <a:cs typeface="PT Serif"/>
                <a:sym typeface="PT Serif"/>
              </a:rPr>
              <a:t>3</a:t>
            </a:r>
          </a:p>
        </p:txBody>
      </p:sp>
      <p:sp>
        <p:nvSpPr>
          <p:cNvPr name="TextBox 20" id="20"/>
          <p:cNvSpPr txBox="true"/>
          <p:nvPr/>
        </p:nvSpPr>
        <p:spPr>
          <a:xfrm rot="0">
            <a:off x="1924641" y="5288309"/>
            <a:ext cx="1107877" cy="349250"/>
          </a:xfrm>
          <a:prstGeom prst="rect">
            <a:avLst/>
          </a:prstGeom>
        </p:spPr>
        <p:txBody>
          <a:bodyPr anchor="t" rtlCol="false" tIns="0" lIns="0" bIns="0" rIns="0">
            <a:spAutoFit/>
          </a:bodyPr>
          <a:lstStyle/>
          <a:p>
            <a:pPr algn="l">
              <a:lnSpc>
                <a:spcPts val="2875"/>
              </a:lnSpc>
            </a:pPr>
            <a:r>
              <a:rPr lang="en-US" sz="2312" b="true">
                <a:solidFill>
                  <a:srgbClr val="383838"/>
                </a:solidFill>
                <a:latin typeface="PT Serif Bold"/>
                <a:ea typeface="PT Serif Bold"/>
                <a:cs typeface="PT Serif Bold"/>
                <a:sym typeface="PT Serif Bold"/>
              </a:rPr>
              <a:t>Layered</a:t>
            </a:r>
          </a:p>
        </p:txBody>
      </p:sp>
      <p:sp>
        <p:nvSpPr>
          <p:cNvPr name="TextBox 21" id="21"/>
          <p:cNvSpPr txBox="true"/>
          <p:nvPr/>
        </p:nvSpPr>
        <p:spPr>
          <a:xfrm rot="0">
            <a:off x="1924641" y="5728992"/>
            <a:ext cx="15570841" cy="429073"/>
          </a:xfrm>
          <a:prstGeom prst="rect">
            <a:avLst/>
          </a:prstGeom>
        </p:spPr>
        <p:txBody>
          <a:bodyPr anchor="t" rtlCol="false" tIns="0" lIns="0" bIns="0" rIns="0">
            <a:spAutoFit/>
          </a:bodyPr>
          <a:lstStyle/>
          <a:p>
            <a:pPr algn="l">
              <a:lnSpc>
                <a:spcPts val="2812"/>
              </a:lnSpc>
            </a:pPr>
            <a:r>
              <a:rPr lang="en-US" sz="1750">
                <a:solidFill>
                  <a:srgbClr val="383838"/>
                </a:solidFill>
                <a:latin typeface="DM Sans"/>
                <a:ea typeface="DM Sans"/>
                <a:cs typeface="DM Sans"/>
                <a:sym typeface="DM Sans"/>
              </a:rPr>
              <a:t>Organises components into horizontal layers, each with specific responsibilities, promoting separation of concerns.</a:t>
            </a:r>
          </a:p>
        </p:txBody>
      </p:sp>
      <p:grpSp>
        <p:nvGrpSpPr>
          <p:cNvPr name="Group 22" id="22"/>
          <p:cNvGrpSpPr/>
          <p:nvPr/>
        </p:nvGrpSpPr>
        <p:grpSpPr>
          <a:xfrm rot="0">
            <a:off x="792509" y="6647107"/>
            <a:ext cx="905770" cy="1358798"/>
            <a:chOff x="0" y="0"/>
            <a:chExt cx="1207694" cy="1811731"/>
          </a:xfrm>
        </p:grpSpPr>
        <p:sp>
          <p:nvSpPr>
            <p:cNvPr name="Freeform 23" id="23"/>
            <p:cNvSpPr/>
            <p:nvPr/>
          </p:nvSpPr>
          <p:spPr>
            <a:xfrm flipH="false" flipV="false" rot="0">
              <a:off x="0" y="0"/>
              <a:ext cx="1207643" cy="1811782"/>
            </a:xfrm>
            <a:custGeom>
              <a:avLst/>
              <a:gdLst/>
              <a:ahLst/>
              <a:cxnLst/>
              <a:rect r="r" b="b" t="t" l="l"/>
              <a:pathLst>
                <a:path h="1811782" w="1207643">
                  <a:moveTo>
                    <a:pt x="0" y="603885"/>
                  </a:moveTo>
                  <a:cubicBezTo>
                    <a:pt x="0" y="270383"/>
                    <a:pt x="270383" y="0"/>
                    <a:pt x="603885" y="0"/>
                  </a:cubicBezTo>
                  <a:cubicBezTo>
                    <a:pt x="937387" y="0"/>
                    <a:pt x="1207643" y="270383"/>
                    <a:pt x="1207643" y="603885"/>
                  </a:cubicBezTo>
                  <a:lnTo>
                    <a:pt x="1207643" y="1207897"/>
                  </a:lnTo>
                  <a:cubicBezTo>
                    <a:pt x="1207643" y="1541399"/>
                    <a:pt x="937260" y="1811782"/>
                    <a:pt x="603758" y="1811782"/>
                  </a:cubicBezTo>
                  <a:cubicBezTo>
                    <a:pt x="270256" y="1811782"/>
                    <a:pt x="0" y="1541399"/>
                    <a:pt x="0" y="1207897"/>
                  </a:cubicBezTo>
                  <a:close/>
                </a:path>
              </a:pathLst>
            </a:custGeom>
            <a:solidFill>
              <a:srgbClr val="F2EEEE"/>
            </a:solidFill>
            <a:ln w="12700">
              <a:solidFill>
                <a:srgbClr val="000000"/>
              </a:solidFill>
            </a:ln>
          </p:spPr>
        </p:sp>
      </p:grpSp>
      <p:sp>
        <p:nvSpPr>
          <p:cNvPr name="TextBox 24" id="24"/>
          <p:cNvSpPr txBox="true"/>
          <p:nvPr/>
        </p:nvSpPr>
        <p:spPr>
          <a:xfrm rot="0">
            <a:off x="1075582" y="7161762"/>
            <a:ext cx="339623" cy="376980"/>
          </a:xfrm>
          <a:prstGeom prst="rect">
            <a:avLst/>
          </a:prstGeom>
        </p:spPr>
        <p:txBody>
          <a:bodyPr anchor="t" rtlCol="false" tIns="0" lIns="0" bIns="0" rIns="0">
            <a:spAutoFit/>
          </a:bodyPr>
          <a:lstStyle/>
          <a:p>
            <a:pPr algn="l">
              <a:lnSpc>
                <a:spcPts val="2625"/>
              </a:lnSpc>
            </a:pPr>
            <a:r>
              <a:rPr lang="en-US" sz="2625">
                <a:solidFill>
                  <a:srgbClr val="383838"/>
                </a:solidFill>
                <a:latin typeface="PT Serif"/>
                <a:ea typeface="PT Serif"/>
                <a:cs typeface="PT Serif"/>
                <a:sym typeface="PT Serif"/>
              </a:rPr>
              <a:t>4</a:t>
            </a:r>
          </a:p>
        </p:txBody>
      </p:sp>
      <p:sp>
        <p:nvSpPr>
          <p:cNvPr name="TextBox 25" id="25"/>
          <p:cNvSpPr txBox="true"/>
          <p:nvPr/>
        </p:nvSpPr>
        <p:spPr>
          <a:xfrm rot="0">
            <a:off x="1924641" y="6873478"/>
            <a:ext cx="680293" cy="349250"/>
          </a:xfrm>
          <a:prstGeom prst="rect">
            <a:avLst/>
          </a:prstGeom>
        </p:spPr>
        <p:txBody>
          <a:bodyPr anchor="t" rtlCol="false" tIns="0" lIns="0" bIns="0" rIns="0">
            <a:spAutoFit/>
          </a:bodyPr>
          <a:lstStyle/>
          <a:p>
            <a:pPr algn="l">
              <a:lnSpc>
                <a:spcPts val="2875"/>
              </a:lnSpc>
            </a:pPr>
            <a:r>
              <a:rPr lang="en-US" sz="2312" b="true">
                <a:solidFill>
                  <a:srgbClr val="383838"/>
                </a:solidFill>
                <a:latin typeface="PT Serif Bold"/>
                <a:ea typeface="PT Serif Bold"/>
                <a:cs typeface="PT Serif Bold"/>
                <a:sym typeface="PT Serif Bold"/>
              </a:rPr>
              <a:t>MVC</a:t>
            </a:r>
          </a:p>
        </p:txBody>
      </p:sp>
      <p:sp>
        <p:nvSpPr>
          <p:cNvPr name="TextBox 26" id="26"/>
          <p:cNvSpPr txBox="true"/>
          <p:nvPr/>
        </p:nvSpPr>
        <p:spPr>
          <a:xfrm rot="0">
            <a:off x="1924641" y="7314162"/>
            <a:ext cx="15570841" cy="429073"/>
          </a:xfrm>
          <a:prstGeom prst="rect">
            <a:avLst/>
          </a:prstGeom>
        </p:spPr>
        <p:txBody>
          <a:bodyPr anchor="t" rtlCol="false" tIns="0" lIns="0" bIns="0" rIns="0">
            <a:spAutoFit/>
          </a:bodyPr>
          <a:lstStyle/>
          <a:p>
            <a:pPr algn="l">
              <a:lnSpc>
                <a:spcPts val="2812"/>
              </a:lnSpc>
            </a:pPr>
            <a:r>
              <a:rPr lang="en-US" sz="1750">
                <a:solidFill>
                  <a:srgbClr val="383838"/>
                </a:solidFill>
                <a:latin typeface="DM Sans"/>
                <a:ea typeface="DM Sans"/>
                <a:cs typeface="DM Sans"/>
                <a:sym typeface="DM Sans"/>
              </a:rPr>
              <a:t>Divides application into Model, View, and Controller, primarily for UI-driven applications, enhancing modularity and testability.</a:t>
            </a:r>
          </a:p>
        </p:txBody>
      </p:sp>
      <p:grpSp>
        <p:nvGrpSpPr>
          <p:cNvPr name="Group 27" id="27"/>
          <p:cNvGrpSpPr/>
          <p:nvPr/>
        </p:nvGrpSpPr>
        <p:grpSpPr>
          <a:xfrm rot="0">
            <a:off x="792509" y="8232277"/>
            <a:ext cx="905770" cy="1358798"/>
            <a:chOff x="0" y="0"/>
            <a:chExt cx="1207694" cy="1811731"/>
          </a:xfrm>
        </p:grpSpPr>
        <p:sp>
          <p:nvSpPr>
            <p:cNvPr name="Freeform 28" id="28"/>
            <p:cNvSpPr/>
            <p:nvPr/>
          </p:nvSpPr>
          <p:spPr>
            <a:xfrm flipH="false" flipV="false" rot="0">
              <a:off x="0" y="0"/>
              <a:ext cx="1207643" cy="1811782"/>
            </a:xfrm>
            <a:custGeom>
              <a:avLst/>
              <a:gdLst/>
              <a:ahLst/>
              <a:cxnLst/>
              <a:rect r="r" b="b" t="t" l="l"/>
              <a:pathLst>
                <a:path h="1811782" w="1207643">
                  <a:moveTo>
                    <a:pt x="0" y="603885"/>
                  </a:moveTo>
                  <a:cubicBezTo>
                    <a:pt x="0" y="270383"/>
                    <a:pt x="270383" y="0"/>
                    <a:pt x="603885" y="0"/>
                  </a:cubicBezTo>
                  <a:cubicBezTo>
                    <a:pt x="937387" y="0"/>
                    <a:pt x="1207643" y="270383"/>
                    <a:pt x="1207643" y="603885"/>
                  </a:cubicBezTo>
                  <a:lnTo>
                    <a:pt x="1207643" y="1207897"/>
                  </a:lnTo>
                  <a:cubicBezTo>
                    <a:pt x="1207643" y="1541399"/>
                    <a:pt x="937260" y="1811782"/>
                    <a:pt x="603758" y="1811782"/>
                  </a:cubicBezTo>
                  <a:cubicBezTo>
                    <a:pt x="270256" y="1811782"/>
                    <a:pt x="0" y="1541399"/>
                    <a:pt x="0" y="1207897"/>
                  </a:cubicBezTo>
                  <a:close/>
                </a:path>
              </a:pathLst>
            </a:custGeom>
            <a:solidFill>
              <a:srgbClr val="F2EEEE"/>
            </a:solidFill>
            <a:ln w="12700">
              <a:solidFill>
                <a:srgbClr val="000000"/>
              </a:solidFill>
            </a:ln>
          </p:spPr>
        </p:sp>
      </p:grpSp>
      <p:sp>
        <p:nvSpPr>
          <p:cNvPr name="TextBox 29" id="29"/>
          <p:cNvSpPr txBox="true"/>
          <p:nvPr/>
        </p:nvSpPr>
        <p:spPr>
          <a:xfrm rot="0">
            <a:off x="1075582" y="8746922"/>
            <a:ext cx="339623" cy="376980"/>
          </a:xfrm>
          <a:prstGeom prst="rect">
            <a:avLst/>
          </a:prstGeom>
        </p:spPr>
        <p:txBody>
          <a:bodyPr anchor="t" rtlCol="false" tIns="0" lIns="0" bIns="0" rIns="0">
            <a:spAutoFit/>
          </a:bodyPr>
          <a:lstStyle/>
          <a:p>
            <a:pPr algn="l">
              <a:lnSpc>
                <a:spcPts val="2625"/>
              </a:lnSpc>
            </a:pPr>
            <a:r>
              <a:rPr lang="en-US" sz="2625">
                <a:solidFill>
                  <a:srgbClr val="383838"/>
                </a:solidFill>
                <a:latin typeface="PT Serif"/>
                <a:ea typeface="PT Serif"/>
                <a:cs typeface="PT Serif"/>
                <a:sym typeface="PT Serif"/>
              </a:rPr>
              <a:t>5</a:t>
            </a:r>
          </a:p>
        </p:txBody>
      </p:sp>
      <p:sp>
        <p:nvSpPr>
          <p:cNvPr name="TextBox 30" id="30"/>
          <p:cNvSpPr txBox="true"/>
          <p:nvPr/>
        </p:nvSpPr>
        <p:spPr>
          <a:xfrm rot="0">
            <a:off x="1924641" y="8458648"/>
            <a:ext cx="1919288" cy="349250"/>
          </a:xfrm>
          <a:prstGeom prst="rect">
            <a:avLst/>
          </a:prstGeom>
        </p:spPr>
        <p:txBody>
          <a:bodyPr anchor="t" rtlCol="false" tIns="0" lIns="0" bIns="0" rIns="0">
            <a:spAutoFit/>
          </a:bodyPr>
          <a:lstStyle/>
          <a:p>
            <a:pPr algn="l">
              <a:lnSpc>
                <a:spcPts val="2875"/>
              </a:lnSpc>
            </a:pPr>
            <a:r>
              <a:rPr lang="en-US" sz="2312" b="true">
                <a:solidFill>
                  <a:srgbClr val="383838"/>
                </a:solidFill>
                <a:latin typeface="PT Serif Bold"/>
                <a:ea typeface="PT Serif Bold"/>
                <a:cs typeface="PT Serif Bold"/>
                <a:sym typeface="PT Serif Bold"/>
              </a:rPr>
              <a:t>Microservices</a:t>
            </a:r>
          </a:p>
        </p:txBody>
      </p:sp>
      <p:sp>
        <p:nvSpPr>
          <p:cNvPr name="TextBox 31" id="31"/>
          <p:cNvSpPr txBox="true"/>
          <p:nvPr/>
        </p:nvSpPr>
        <p:spPr>
          <a:xfrm rot="0">
            <a:off x="1924641" y="8899322"/>
            <a:ext cx="15570841" cy="429073"/>
          </a:xfrm>
          <a:prstGeom prst="rect">
            <a:avLst/>
          </a:prstGeom>
        </p:spPr>
        <p:txBody>
          <a:bodyPr anchor="t" rtlCol="false" tIns="0" lIns="0" bIns="0" rIns="0">
            <a:spAutoFit/>
          </a:bodyPr>
          <a:lstStyle/>
          <a:p>
            <a:pPr algn="l">
              <a:lnSpc>
                <a:spcPts val="2812"/>
              </a:lnSpc>
            </a:pPr>
            <a:r>
              <a:rPr lang="en-US" sz="1750">
                <a:solidFill>
                  <a:srgbClr val="383838"/>
                </a:solidFill>
                <a:latin typeface="DM Sans"/>
                <a:ea typeface="DM Sans"/>
                <a:cs typeface="DM Sans"/>
                <a:sym typeface="DM Sans"/>
              </a:rPr>
              <a:t>Structures an application as a collection of loosely coupled, independently deployable services, enabling agility and scalability.</a:t>
            </a: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AFA"/>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a:ln w="12700">
              <a:solidFill>
                <a:srgbClr val="000000"/>
              </a:solidFill>
            </a:ln>
          </p:spPr>
        </p:sp>
      </p:grpSp>
      <p:sp>
        <p:nvSpPr>
          <p:cNvPr name="Freeform 6" id="6" descr="preencoded.png"/>
          <p:cNvSpPr/>
          <p:nvPr/>
        </p:nvSpPr>
        <p:spPr>
          <a:xfrm flipH="false" flipV="false" rot="0">
            <a:off x="0" y="0"/>
            <a:ext cx="6858000" cy="10287000"/>
          </a:xfrm>
          <a:custGeom>
            <a:avLst/>
            <a:gdLst/>
            <a:ahLst/>
            <a:cxnLst/>
            <a:rect r="r" b="b" t="t" l="l"/>
            <a:pathLst>
              <a:path h="10287000" w="6858000">
                <a:moveTo>
                  <a:pt x="0" y="0"/>
                </a:moveTo>
                <a:lnTo>
                  <a:pt x="6858000" y="0"/>
                </a:lnTo>
                <a:lnTo>
                  <a:pt x="6858000" y="10287000"/>
                </a:lnTo>
                <a:lnTo>
                  <a:pt x="0" y="10287000"/>
                </a:lnTo>
                <a:lnTo>
                  <a:pt x="0" y="0"/>
                </a:lnTo>
                <a:close/>
              </a:path>
            </a:pathLst>
          </a:custGeom>
          <a:blipFill>
            <a:blip r:embed="rId3"/>
            <a:stretch>
              <a:fillRect l="0" t="0" r="0" b="0"/>
            </a:stretch>
          </a:blipFill>
        </p:spPr>
      </p:sp>
      <p:sp>
        <p:nvSpPr>
          <p:cNvPr name="TextBox 7" id="7"/>
          <p:cNvSpPr txBox="true"/>
          <p:nvPr/>
        </p:nvSpPr>
        <p:spPr>
          <a:xfrm rot="0">
            <a:off x="7850238" y="1999212"/>
            <a:ext cx="9445523" cy="1843088"/>
          </a:xfrm>
          <a:prstGeom prst="rect">
            <a:avLst/>
          </a:prstGeom>
        </p:spPr>
        <p:txBody>
          <a:bodyPr anchor="t" rtlCol="false" tIns="0" lIns="0" bIns="0" rIns="0">
            <a:spAutoFit/>
          </a:bodyPr>
          <a:lstStyle/>
          <a:p>
            <a:pPr algn="l">
              <a:lnSpc>
                <a:spcPts val="7312"/>
              </a:lnSpc>
            </a:pPr>
            <a:r>
              <a:rPr lang="en-US" sz="5812" b="true">
                <a:solidFill>
                  <a:srgbClr val="020202"/>
                </a:solidFill>
                <a:latin typeface="PT Serif Bold"/>
                <a:ea typeface="PT Serif Bold"/>
                <a:cs typeface="PT Serif Bold"/>
                <a:sym typeface="PT Serif Bold"/>
              </a:rPr>
              <a:t>Architecture Rejection: Monolithic</a:t>
            </a:r>
          </a:p>
        </p:txBody>
      </p:sp>
      <p:sp>
        <p:nvSpPr>
          <p:cNvPr name="TextBox 8" id="8"/>
          <p:cNvSpPr txBox="true"/>
          <p:nvPr/>
        </p:nvSpPr>
        <p:spPr>
          <a:xfrm rot="0">
            <a:off x="7850238" y="4227909"/>
            <a:ext cx="9445523" cy="871538"/>
          </a:xfrm>
          <a:prstGeom prst="rect">
            <a:avLst/>
          </a:prstGeom>
        </p:spPr>
        <p:txBody>
          <a:bodyPr anchor="t" rtlCol="false" tIns="0" lIns="0" bIns="0" rIns="0">
            <a:spAutoFit/>
          </a:bodyPr>
          <a:lstStyle/>
          <a:p>
            <a:pPr algn="l" marL="329902" indent="-164951" lvl="1">
              <a:lnSpc>
                <a:spcPts val="3562"/>
              </a:lnSpc>
              <a:buFont typeface="Arial"/>
              <a:buChar char="•"/>
            </a:pPr>
            <a:r>
              <a:rPr lang="en-US" b="true" sz="2187">
                <a:solidFill>
                  <a:srgbClr val="383838"/>
                </a:solidFill>
                <a:latin typeface="DM Sans Bold"/>
                <a:ea typeface="DM Sans Bold"/>
                <a:cs typeface="DM Sans Bold"/>
                <a:sym typeface="DM Sans Bold"/>
              </a:rPr>
              <a:t>Tight Coupling:</a:t>
            </a:r>
            <a:r>
              <a:rPr lang="en-US" sz="2187">
                <a:solidFill>
                  <a:srgbClr val="383838"/>
                </a:solidFill>
                <a:latin typeface="DM Sans"/>
                <a:ea typeface="DM Sans"/>
                <a:cs typeface="DM Sans"/>
                <a:sym typeface="DM Sans"/>
              </a:rPr>
              <a:t> Interdependencies hinder independent development and deployment.</a:t>
            </a:r>
          </a:p>
        </p:txBody>
      </p:sp>
      <p:sp>
        <p:nvSpPr>
          <p:cNvPr name="TextBox 9" id="9"/>
          <p:cNvSpPr txBox="true"/>
          <p:nvPr/>
        </p:nvSpPr>
        <p:spPr>
          <a:xfrm rot="0">
            <a:off x="7850238" y="5234283"/>
            <a:ext cx="9445523" cy="871538"/>
          </a:xfrm>
          <a:prstGeom prst="rect">
            <a:avLst/>
          </a:prstGeom>
        </p:spPr>
        <p:txBody>
          <a:bodyPr anchor="t" rtlCol="false" tIns="0" lIns="0" bIns="0" rIns="0">
            <a:spAutoFit/>
          </a:bodyPr>
          <a:lstStyle/>
          <a:p>
            <a:pPr algn="l" marL="329902" indent="-164951" lvl="1">
              <a:lnSpc>
                <a:spcPts val="3562"/>
              </a:lnSpc>
              <a:buFont typeface="Arial"/>
              <a:buChar char="•"/>
            </a:pPr>
            <a:r>
              <a:rPr lang="en-US" b="true" sz="2187">
                <a:solidFill>
                  <a:srgbClr val="383838"/>
                </a:solidFill>
                <a:latin typeface="DM Sans Bold"/>
                <a:ea typeface="DM Sans Bold"/>
                <a:cs typeface="DM Sans Bold"/>
                <a:sym typeface="DM Sans Bold"/>
              </a:rPr>
              <a:t>Poor Scalability:</a:t>
            </a:r>
            <a:r>
              <a:rPr lang="en-US" sz="2187">
                <a:solidFill>
                  <a:srgbClr val="383838"/>
                </a:solidFill>
                <a:latin typeface="DM Sans"/>
                <a:ea typeface="DM Sans"/>
                <a:cs typeface="DM Sans"/>
                <a:sym typeface="DM Sans"/>
              </a:rPr>
              <a:t> Scaling requires replicating the entire application, which is inefficient.</a:t>
            </a:r>
          </a:p>
        </p:txBody>
      </p:sp>
      <p:sp>
        <p:nvSpPr>
          <p:cNvPr name="TextBox 10" id="10"/>
          <p:cNvSpPr txBox="true"/>
          <p:nvPr/>
        </p:nvSpPr>
        <p:spPr>
          <a:xfrm rot="0">
            <a:off x="7850238" y="6240666"/>
            <a:ext cx="9445523" cy="871538"/>
          </a:xfrm>
          <a:prstGeom prst="rect">
            <a:avLst/>
          </a:prstGeom>
        </p:spPr>
        <p:txBody>
          <a:bodyPr anchor="t" rtlCol="false" tIns="0" lIns="0" bIns="0" rIns="0">
            <a:spAutoFit/>
          </a:bodyPr>
          <a:lstStyle/>
          <a:p>
            <a:pPr algn="l" marL="329902" indent="-164951" lvl="1">
              <a:lnSpc>
                <a:spcPts val="3562"/>
              </a:lnSpc>
              <a:buFont typeface="Arial"/>
              <a:buChar char="•"/>
            </a:pPr>
            <a:r>
              <a:rPr lang="en-US" b="true" sz="2187">
                <a:solidFill>
                  <a:srgbClr val="383838"/>
                </a:solidFill>
                <a:latin typeface="DM Sans Bold"/>
                <a:ea typeface="DM Sans Bold"/>
                <a:cs typeface="DM Sans Bold"/>
                <a:sym typeface="DM Sans Bold"/>
              </a:rPr>
              <a:t>High Maintenance Risk: </a:t>
            </a:r>
            <a:r>
              <a:rPr lang="en-US" sz="2187">
                <a:solidFill>
                  <a:srgbClr val="383838"/>
                </a:solidFill>
                <a:latin typeface="DM Sans"/>
                <a:ea typeface="DM Sans"/>
                <a:cs typeface="DM Sans"/>
                <a:sym typeface="DM Sans"/>
              </a:rPr>
              <a:t>Changes in one part can inadvertently affect others.</a:t>
            </a:r>
          </a:p>
        </p:txBody>
      </p:sp>
      <p:sp>
        <p:nvSpPr>
          <p:cNvPr name="TextBox 11" id="11"/>
          <p:cNvSpPr txBox="true"/>
          <p:nvPr/>
        </p:nvSpPr>
        <p:spPr>
          <a:xfrm rot="0">
            <a:off x="7850238" y="7247039"/>
            <a:ext cx="9445523" cy="871538"/>
          </a:xfrm>
          <a:prstGeom prst="rect">
            <a:avLst/>
          </a:prstGeom>
        </p:spPr>
        <p:txBody>
          <a:bodyPr anchor="t" rtlCol="false" tIns="0" lIns="0" bIns="0" rIns="0">
            <a:spAutoFit/>
          </a:bodyPr>
          <a:lstStyle/>
          <a:p>
            <a:pPr algn="l" marL="329902" indent="-164951" lvl="1">
              <a:lnSpc>
                <a:spcPts val="3562"/>
              </a:lnSpc>
              <a:buFont typeface="Arial"/>
              <a:buChar char="•"/>
            </a:pPr>
            <a:r>
              <a:rPr lang="en-US" b="true" sz="2187">
                <a:solidFill>
                  <a:srgbClr val="383838"/>
                </a:solidFill>
                <a:latin typeface="DM Sans Bold"/>
                <a:ea typeface="DM Sans Bold"/>
                <a:cs typeface="DM Sans Bold"/>
                <a:sym typeface="DM Sans Bold"/>
              </a:rPr>
              <a:t>Limited Modularity: </a:t>
            </a:r>
            <a:r>
              <a:rPr lang="en-US" sz="2187">
                <a:solidFill>
                  <a:srgbClr val="383838"/>
                </a:solidFill>
                <a:latin typeface="DM Sans"/>
                <a:ea typeface="DM Sans"/>
                <a:cs typeface="DM Sans"/>
                <a:sym typeface="DM Sans"/>
              </a:rPr>
              <a:t>Difficult to isolate and test individual components.</a:t>
            </a: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AFA"/>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a:ln w="12700">
              <a:solidFill>
                <a:srgbClr val="000000"/>
              </a:solidFill>
            </a:ln>
          </p:spPr>
        </p:sp>
      </p:grpSp>
      <p:sp>
        <p:nvSpPr>
          <p:cNvPr name="Freeform 6" id="6" descr="preencoded.png"/>
          <p:cNvSpPr/>
          <p:nvPr/>
        </p:nvSpPr>
        <p:spPr>
          <a:xfrm flipH="false" flipV="false" rot="0">
            <a:off x="0" y="0"/>
            <a:ext cx="6858000" cy="10287000"/>
          </a:xfrm>
          <a:custGeom>
            <a:avLst/>
            <a:gdLst/>
            <a:ahLst/>
            <a:cxnLst/>
            <a:rect r="r" b="b" t="t" l="l"/>
            <a:pathLst>
              <a:path h="10287000" w="6858000">
                <a:moveTo>
                  <a:pt x="0" y="0"/>
                </a:moveTo>
                <a:lnTo>
                  <a:pt x="6858000" y="0"/>
                </a:lnTo>
                <a:lnTo>
                  <a:pt x="6858000" y="10287000"/>
                </a:lnTo>
                <a:lnTo>
                  <a:pt x="0" y="10287000"/>
                </a:lnTo>
                <a:lnTo>
                  <a:pt x="0" y="0"/>
                </a:lnTo>
                <a:close/>
              </a:path>
            </a:pathLst>
          </a:custGeom>
          <a:blipFill>
            <a:blip r:embed="rId3"/>
            <a:stretch>
              <a:fillRect l="0" t="0" r="0" b="0"/>
            </a:stretch>
          </a:blipFill>
        </p:spPr>
      </p:sp>
      <p:sp>
        <p:nvSpPr>
          <p:cNvPr name="TextBox 7" id="7"/>
          <p:cNvSpPr txBox="true"/>
          <p:nvPr/>
        </p:nvSpPr>
        <p:spPr>
          <a:xfrm rot="0">
            <a:off x="7850238" y="1999212"/>
            <a:ext cx="9445523" cy="1843088"/>
          </a:xfrm>
          <a:prstGeom prst="rect">
            <a:avLst/>
          </a:prstGeom>
        </p:spPr>
        <p:txBody>
          <a:bodyPr anchor="t" rtlCol="false" tIns="0" lIns="0" bIns="0" rIns="0">
            <a:spAutoFit/>
          </a:bodyPr>
          <a:lstStyle/>
          <a:p>
            <a:pPr algn="l">
              <a:lnSpc>
                <a:spcPts val="7312"/>
              </a:lnSpc>
            </a:pPr>
            <a:r>
              <a:rPr lang="en-US" sz="5812" b="true">
                <a:solidFill>
                  <a:srgbClr val="020202"/>
                </a:solidFill>
                <a:latin typeface="PT Serif Bold"/>
                <a:ea typeface="PT Serif Bold"/>
                <a:cs typeface="PT Serif Bold"/>
                <a:sym typeface="PT Serif Bold"/>
              </a:rPr>
              <a:t>Architecture Rejection: MVC</a:t>
            </a:r>
          </a:p>
        </p:txBody>
      </p:sp>
      <p:sp>
        <p:nvSpPr>
          <p:cNvPr name="TextBox 8" id="8"/>
          <p:cNvSpPr txBox="true"/>
          <p:nvPr/>
        </p:nvSpPr>
        <p:spPr>
          <a:xfrm rot="0">
            <a:off x="7850238" y="4227909"/>
            <a:ext cx="9445523" cy="871538"/>
          </a:xfrm>
          <a:prstGeom prst="rect">
            <a:avLst/>
          </a:prstGeom>
        </p:spPr>
        <p:txBody>
          <a:bodyPr anchor="t" rtlCol="false" tIns="0" lIns="0" bIns="0" rIns="0">
            <a:spAutoFit/>
          </a:bodyPr>
          <a:lstStyle/>
          <a:p>
            <a:pPr algn="l" marL="329902" indent="-164951" lvl="1">
              <a:lnSpc>
                <a:spcPts val="3562"/>
              </a:lnSpc>
              <a:buFont typeface="Arial"/>
              <a:buChar char="•"/>
            </a:pPr>
            <a:r>
              <a:rPr lang="en-US" b="true" sz="2187">
                <a:solidFill>
                  <a:srgbClr val="383838"/>
                </a:solidFill>
                <a:latin typeface="DM Sans Bold"/>
                <a:ea typeface="DM Sans Bold"/>
                <a:cs typeface="DM Sans Bold"/>
                <a:sym typeface="DM Sans Bold"/>
              </a:rPr>
              <a:t>UI-Centric Design: </a:t>
            </a:r>
            <a:r>
              <a:rPr lang="en-US" sz="2187">
                <a:solidFill>
                  <a:srgbClr val="383838"/>
                </a:solidFill>
                <a:latin typeface="DM Sans"/>
                <a:ea typeface="DM Sans"/>
                <a:cs typeface="DM Sans"/>
                <a:sym typeface="DM Sans"/>
              </a:rPr>
              <a:t>MVC is primarily designed for user interface-driven applications, not backend service architecture</a:t>
            </a:r>
          </a:p>
        </p:txBody>
      </p:sp>
      <p:sp>
        <p:nvSpPr>
          <p:cNvPr name="TextBox 9" id="9"/>
          <p:cNvSpPr txBox="true"/>
          <p:nvPr/>
        </p:nvSpPr>
        <p:spPr>
          <a:xfrm rot="0">
            <a:off x="7850238" y="5234283"/>
            <a:ext cx="9445523" cy="871538"/>
          </a:xfrm>
          <a:prstGeom prst="rect">
            <a:avLst/>
          </a:prstGeom>
        </p:spPr>
        <p:txBody>
          <a:bodyPr anchor="t" rtlCol="false" tIns="0" lIns="0" bIns="0" rIns="0">
            <a:spAutoFit/>
          </a:bodyPr>
          <a:lstStyle/>
          <a:p>
            <a:pPr algn="l" marL="329902" indent="-164951" lvl="1">
              <a:lnSpc>
                <a:spcPts val="3562"/>
              </a:lnSpc>
              <a:buFont typeface="Arial"/>
              <a:buChar char="•"/>
            </a:pPr>
            <a:r>
              <a:rPr lang="en-US" b="true" sz="2187">
                <a:solidFill>
                  <a:srgbClr val="383838"/>
                </a:solidFill>
                <a:latin typeface="DM Sans Bold"/>
                <a:ea typeface="DM Sans Bold"/>
                <a:cs typeface="DM Sans Bold"/>
                <a:sym typeface="DM Sans Bold"/>
              </a:rPr>
              <a:t>Limited Scalability: </a:t>
            </a:r>
            <a:r>
              <a:rPr lang="en-US" sz="2187">
                <a:solidFill>
                  <a:srgbClr val="383838"/>
                </a:solidFill>
                <a:latin typeface="DM Sans"/>
                <a:ea typeface="DM Sans"/>
                <a:cs typeface="DM Sans"/>
                <a:sym typeface="DM Sans"/>
              </a:rPr>
              <a:t>Difficult to scale individual components independently</a:t>
            </a:r>
          </a:p>
        </p:txBody>
      </p:sp>
      <p:sp>
        <p:nvSpPr>
          <p:cNvPr name="TextBox 10" id="10"/>
          <p:cNvSpPr txBox="true"/>
          <p:nvPr/>
        </p:nvSpPr>
        <p:spPr>
          <a:xfrm rot="0">
            <a:off x="7850238" y="6240666"/>
            <a:ext cx="9445523" cy="871538"/>
          </a:xfrm>
          <a:prstGeom prst="rect">
            <a:avLst/>
          </a:prstGeom>
        </p:spPr>
        <p:txBody>
          <a:bodyPr anchor="t" rtlCol="false" tIns="0" lIns="0" bIns="0" rIns="0">
            <a:spAutoFit/>
          </a:bodyPr>
          <a:lstStyle/>
          <a:p>
            <a:pPr algn="l" marL="329902" indent="-164951" lvl="1">
              <a:lnSpc>
                <a:spcPts val="3562"/>
              </a:lnSpc>
              <a:buFont typeface="Arial"/>
              <a:buChar char="•"/>
            </a:pPr>
            <a:r>
              <a:rPr lang="en-US" sz="2187">
                <a:solidFill>
                  <a:srgbClr val="383838"/>
                </a:solidFill>
                <a:latin typeface="DM Sans"/>
                <a:ea typeface="DM Sans"/>
                <a:cs typeface="DM Sans"/>
                <a:sym typeface="DM Sans"/>
              </a:rPr>
              <a:t>I</a:t>
            </a:r>
            <a:r>
              <a:rPr lang="en-US" b="true" sz="2187">
                <a:solidFill>
                  <a:srgbClr val="383838"/>
                </a:solidFill>
                <a:latin typeface="DM Sans Bold"/>
                <a:ea typeface="DM Sans Bold"/>
                <a:cs typeface="DM Sans Bold"/>
                <a:sym typeface="DM Sans Bold"/>
              </a:rPr>
              <a:t>nsufficient for Complex Services: </a:t>
            </a:r>
            <a:r>
              <a:rPr lang="en-US" sz="2187">
                <a:solidFill>
                  <a:srgbClr val="383838"/>
                </a:solidFill>
                <a:latin typeface="DM Sans"/>
                <a:ea typeface="DM Sans"/>
                <a:cs typeface="DM Sans"/>
                <a:sym typeface="DM Sans"/>
              </a:rPr>
              <a:t>Does not adequately support multiple backend services like authentication, chat, and AI analysis</a:t>
            </a:r>
          </a:p>
        </p:txBody>
      </p:sp>
      <p:sp>
        <p:nvSpPr>
          <p:cNvPr name="TextBox 11" id="11"/>
          <p:cNvSpPr txBox="true"/>
          <p:nvPr/>
        </p:nvSpPr>
        <p:spPr>
          <a:xfrm rot="0">
            <a:off x="7850238" y="7247039"/>
            <a:ext cx="9445523" cy="871538"/>
          </a:xfrm>
          <a:prstGeom prst="rect">
            <a:avLst/>
          </a:prstGeom>
        </p:spPr>
        <p:txBody>
          <a:bodyPr anchor="t" rtlCol="false" tIns="0" lIns="0" bIns="0" rIns="0">
            <a:spAutoFit/>
          </a:bodyPr>
          <a:lstStyle/>
          <a:p>
            <a:pPr algn="l" marL="329902" indent="-164951" lvl="1">
              <a:lnSpc>
                <a:spcPts val="3562"/>
              </a:lnSpc>
              <a:buFont typeface="Arial"/>
              <a:buChar char="•"/>
            </a:pPr>
            <a:r>
              <a:rPr lang="en-US" b="true" sz="2187">
                <a:solidFill>
                  <a:srgbClr val="383838"/>
                </a:solidFill>
                <a:latin typeface="DM Sans Bold"/>
                <a:ea typeface="DM Sans Bold"/>
                <a:cs typeface="DM Sans Bold"/>
                <a:sym typeface="DM Sans Bold"/>
              </a:rPr>
              <a:t>Monolithic Tendency:</a:t>
            </a:r>
            <a:r>
              <a:rPr lang="en-US" sz="2187">
                <a:solidFill>
                  <a:srgbClr val="383838"/>
                </a:solidFill>
                <a:latin typeface="DM Sans"/>
                <a:ea typeface="DM Sans"/>
                <a:cs typeface="DM Sans"/>
                <a:sym typeface="DM Sans"/>
              </a:rPr>
              <a:t> Often leads to tightly coupled components, limiting modularity</a:t>
            </a: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AFA"/>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a:ln w="12700">
              <a:solidFill>
                <a:srgbClr val="000000"/>
              </a:solidFill>
            </a:ln>
          </p:spPr>
        </p:sp>
      </p:grpSp>
      <p:sp>
        <p:nvSpPr>
          <p:cNvPr name="Freeform 6" id="6" descr="preencoded.png"/>
          <p:cNvSpPr/>
          <p:nvPr/>
        </p:nvSpPr>
        <p:spPr>
          <a:xfrm flipH="false" flipV="false" rot="0">
            <a:off x="0" y="0"/>
            <a:ext cx="6858000" cy="10287000"/>
          </a:xfrm>
          <a:custGeom>
            <a:avLst/>
            <a:gdLst/>
            <a:ahLst/>
            <a:cxnLst/>
            <a:rect r="r" b="b" t="t" l="l"/>
            <a:pathLst>
              <a:path h="10287000" w="6858000">
                <a:moveTo>
                  <a:pt x="0" y="0"/>
                </a:moveTo>
                <a:lnTo>
                  <a:pt x="6858000" y="0"/>
                </a:lnTo>
                <a:lnTo>
                  <a:pt x="6858000" y="10287000"/>
                </a:lnTo>
                <a:lnTo>
                  <a:pt x="0" y="10287000"/>
                </a:lnTo>
                <a:lnTo>
                  <a:pt x="0" y="0"/>
                </a:lnTo>
                <a:close/>
              </a:path>
            </a:pathLst>
          </a:custGeom>
          <a:blipFill>
            <a:blip r:embed="rId3"/>
            <a:stretch>
              <a:fillRect l="0" t="0" r="0" b="0"/>
            </a:stretch>
          </a:blipFill>
        </p:spPr>
      </p:sp>
      <p:sp>
        <p:nvSpPr>
          <p:cNvPr name="TextBox 7" id="7"/>
          <p:cNvSpPr txBox="true"/>
          <p:nvPr/>
        </p:nvSpPr>
        <p:spPr>
          <a:xfrm rot="0">
            <a:off x="7850238" y="1999212"/>
            <a:ext cx="9445523" cy="1843088"/>
          </a:xfrm>
          <a:prstGeom prst="rect">
            <a:avLst/>
          </a:prstGeom>
        </p:spPr>
        <p:txBody>
          <a:bodyPr anchor="t" rtlCol="false" tIns="0" lIns="0" bIns="0" rIns="0">
            <a:spAutoFit/>
          </a:bodyPr>
          <a:lstStyle/>
          <a:p>
            <a:pPr algn="l">
              <a:lnSpc>
                <a:spcPts val="7312"/>
              </a:lnSpc>
            </a:pPr>
            <a:r>
              <a:rPr lang="en-US" sz="5812" b="true">
                <a:solidFill>
                  <a:srgbClr val="020202"/>
                </a:solidFill>
                <a:latin typeface="PT Serif Bold"/>
                <a:ea typeface="PT Serif Bold"/>
                <a:cs typeface="PT Serif Bold"/>
                <a:sym typeface="PT Serif Bold"/>
              </a:rPr>
              <a:t>Architecture Rejection: Microservices</a:t>
            </a:r>
          </a:p>
        </p:txBody>
      </p:sp>
      <p:sp>
        <p:nvSpPr>
          <p:cNvPr name="TextBox 8" id="8"/>
          <p:cNvSpPr txBox="true"/>
          <p:nvPr/>
        </p:nvSpPr>
        <p:spPr>
          <a:xfrm rot="0">
            <a:off x="7850238" y="4227909"/>
            <a:ext cx="9445523" cy="871538"/>
          </a:xfrm>
          <a:prstGeom prst="rect">
            <a:avLst/>
          </a:prstGeom>
        </p:spPr>
        <p:txBody>
          <a:bodyPr anchor="t" rtlCol="false" tIns="0" lIns="0" bIns="0" rIns="0">
            <a:spAutoFit/>
          </a:bodyPr>
          <a:lstStyle/>
          <a:p>
            <a:pPr algn="l" marL="329902" indent="-164951" lvl="1">
              <a:lnSpc>
                <a:spcPts val="3562"/>
              </a:lnSpc>
              <a:buFont typeface="Arial"/>
              <a:buChar char="•"/>
            </a:pPr>
            <a:r>
              <a:rPr lang="en-US" b="true" sz="2187">
                <a:solidFill>
                  <a:srgbClr val="383838"/>
                </a:solidFill>
                <a:latin typeface="DM Sans Bold"/>
                <a:ea typeface="DM Sans Bold"/>
                <a:cs typeface="DM Sans Bold"/>
                <a:sym typeface="DM Sans Bold"/>
              </a:rPr>
              <a:t>Over-complex for Scope:</a:t>
            </a:r>
            <a:r>
              <a:rPr lang="en-US" sz="2187">
                <a:solidFill>
                  <a:srgbClr val="383838"/>
                </a:solidFill>
                <a:latin typeface="DM Sans"/>
                <a:ea typeface="DM Sans"/>
                <a:cs typeface="DM Sans"/>
                <a:sym typeface="DM Sans"/>
              </a:rPr>
              <a:t> Introduces significant overhead not justified by current project requirements</a:t>
            </a:r>
          </a:p>
        </p:txBody>
      </p:sp>
      <p:sp>
        <p:nvSpPr>
          <p:cNvPr name="TextBox 9" id="9"/>
          <p:cNvSpPr txBox="true"/>
          <p:nvPr/>
        </p:nvSpPr>
        <p:spPr>
          <a:xfrm rot="0">
            <a:off x="7850238" y="5234283"/>
            <a:ext cx="9445523" cy="871538"/>
          </a:xfrm>
          <a:prstGeom prst="rect">
            <a:avLst/>
          </a:prstGeom>
        </p:spPr>
        <p:txBody>
          <a:bodyPr anchor="t" rtlCol="false" tIns="0" lIns="0" bIns="0" rIns="0">
            <a:spAutoFit/>
          </a:bodyPr>
          <a:lstStyle/>
          <a:p>
            <a:pPr algn="l" marL="329902" indent="-164951" lvl="1">
              <a:lnSpc>
                <a:spcPts val="3562"/>
              </a:lnSpc>
              <a:buFont typeface="Arial"/>
              <a:buChar char="•"/>
            </a:pPr>
            <a:r>
              <a:rPr lang="en-US" b="true" sz="2187">
                <a:solidFill>
                  <a:srgbClr val="383838"/>
                </a:solidFill>
                <a:latin typeface="DM Sans Bold"/>
                <a:ea typeface="DM Sans Bold"/>
                <a:cs typeface="DM Sans Bold"/>
                <a:sym typeface="DM Sans Bold"/>
              </a:rPr>
              <a:t>DevOps Requirement: </a:t>
            </a:r>
            <a:r>
              <a:rPr lang="en-US" sz="2187">
                <a:solidFill>
                  <a:srgbClr val="383838"/>
                </a:solidFill>
                <a:latin typeface="DM Sans"/>
                <a:ea typeface="DM Sans"/>
                <a:cs typeface="DM Sans"/>
                <a:sym typeface="DM Sans"/>
              </a:rPr>
              <a:t>Demands advanced DevOps practices and distributed infrastructure management</a:t>
            </a:r>
          </a:p>
        </p:txBody>
      </p:sp>
      <p:sp>
        <p:nvSpPr>
          <p:cNvPr name="TextBox 10" id="10"/>
          <p:cNvSpPr txBox="true"/>
          <p:nvPr/>
        </p:nvSpPr>
        <p:spPr>
          <a:xfrm rot="0">
            <a:off x="7850238" y="6240666"/>
            <a:ext cx="9445523" cy="871538"/>
          </a:xfrm>
          <a:prstGeom prst="rect">
            <a:avLst/>
          </a:prstGeom>
        </p:spPr>
        <p:txBody>
          <a:bodyPr anchor="t" rtlCol="false" tIns="0" lIns="0" bIns="0" rIns="0">
            <a:spAutoFit/>
          </a:bodyPr>
          <a:lstStyle/>
          <a:p>
            <a:pPr algn="l" marL="329902" indent="-164951" lvl="1">
              <a:lnSpc>
                <a:spcPts val="3562"/>
              </a:lnSpc>
              <a:buFont typeface="Arial"/>
              <a:buChar char="•"/>
            </a:pPr>
            <a:r>
              <a:rPr lang="en-US" b="true" sz="2187">
                <a:solidFill>
                  <a:srgbClr val="383838"/>
                </a:solidFill>
                <a:latin typeface="DM Sans Bold"/>
                <a:ea typeface="DM Sans Bold"/>
                <a:cs typeface="DM Sans Bold"/>
                <a:sym typeface="DM Sans Bold"/>
              </a:rPr>
              <a:t>Operational Overhead: </a:t>
            </a:r>
            <a:r>
              <a:rPr lang="en-US" sz="2187">
                <a:solidFill>
                  <a:srgbClr val="383838"/>
                </a:solidFill>
                <a:latin typeface="DM Sans"/>
                <a:ea typeface="DM Sans"/>
                <a:cs typeface="DM Sans"/>
                <a:sym typeface="DM Sans"/>
              </a:rPr>
              <a:t>Increased complexity in deployment, monitoring, and debugging across multiple services</a:t>
            </a:r>
          </a:p>
        </p:txBody>
      </p:sp>
      <p:sp>
        <p:nvSpPr>
          <p:cNvPr name="TextBox 11" id="11"/>
          <p:cNvSpPr txBox="true"/>
          <p:nvPr/>
        </p:nvSpPr>
        <p:spPr>
          <a:xfrm rot="0">
            <a:off x="7850238" y="7247039"/>
            <a:ext cx="9445523" cy="871538"/>
          </a:xfrm>
          <a:prstGeom prst="rect">
            <a:avLst/>
          </a:prstGeom>
        </p:spPr>
        <p:txBody>
          <a:bodyPr anchor="t" rtlCol="false" tIns="0" lIns="0" bIns="0" rIns="0">
            <a:spAutoFit/>
          </a:bodyPr>
          <a:lstStyle/>
          <a:p>
            <a:pPr algn="l" marL="329902" indent="-164951" lvl="1">
              <a:lnSpc>
                <a:spcPts val="3562"/>
              </a:lnSpc>
              <a:buFont typeface="Arial"/>
              <a:buChar char="•"/>
            </a:pPr>
            <a:r>
              <a:rPr lang="en-US" b="true" sz="2187">
                <a:solidFill>
                  <a:srgbClr val="383838"/>
                </a:solidFill>
                <a:latin typeface="DM Sans Bold"/>
                <a:ea typeface="DM Sans Bold"/>
                <a:cs typeface="DM Sans Bold"/>
                <a:sym typeface="DM Sans Bold"/>
              </a:rPr>
              <a:t>Overkill for Academic Project:</a:t>
            </a:r>
            <a:r>
              <a:rPr lang="en-US" sz="2187">
                <a:solidFill>
                  <a:srgbClr val="383838"/>
                </a:solidFill>
                <a:latin typeface="DM Sans"/>
                <a:ea typeface="DM Sans"/>
                <a:cs typeface="DM Sans"/>
                <a:sym typeface="DM Sans"/>
              </a:rPr>
              <a:t> Unnecessary complexity for a university-level software engineering project</a:t>
            </a: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AFA"/>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a:ln w="12700">
              <a:solidFill>
                <a:srgbClr val="000000"/>
              </a:solidFill>
            </a:ln>
          </p:spPr>
        </p:sp>
      </p:grpSp>
      <p:sp>
        <p:nvSpPr>
          <p:cNvPr name="Freeform 6" id="6" descr="preencoded.png"/>
          <p:cNvSpPr/>
          <p:nvPr/>
        </p:nvSpPr>
        <p:spPr>
          <a:xfrm flipH="false" flipV="false" rot="0">
            <a:off x="0" y="0"/>
            <a:ext cx="6858000" cy="10287000"/>
          </a:xfrm>
          <a:custGeom>
            <a:avLst/>
            <a:gdLst/>
            <a:ahLst/>
            <a:cxnLst/>
            <a:rect r="r" b="b" t="t" l="l"/>
            <a:pathLst>
              <a:path h="10287000" w="6858000">
                <a:moveTo>
                  <a:pt x="0" y="0"/>
                </a:moveTo>
                <a:lnTo>
                  <a:pt x="6858000" y="0"/>
                </a:lnTo>
                <a:lnTo>
                  <a:pt x="6858000" y="10287000"/>
                </a:lnTo>
                <a:lnTo>
                  <a:pt x="0" y="10287000"/>
                </a:lnTo>
                <a:lnTo>
                  <a:pt x="0" y="0"/>
                </a:lnTo>
                <a:close/>
              </a:path>
            </a:pathLst>
          </a:custGeom>
          <a:blipFill>
            <a:blip r:embed="rId3"/>
            <a:stretch>
              <a:fillRect l="0" t="0" r="0" b="0"/>
            </a:stretch>
          </a:blipFill>
        </p:spPr>
      </p:sp>
      <p:sp>
        <p:nvSpPr>
          <p:cNvPr name="TextBox 7" id="7"/>
          <p:cNvSpPr txBox="true"/>
          <p:nvPr/>
        </p:nvSpPr>
        <p:spPr>
          <a:xfrm rot="0">
            <a:off x="7547077" y="523875"/>
            <a:ext cx="10051847" cy="1271588"/>
          </a:xfrm>
          <a:prstGeom prst="rect">
            <a:avLst/>
          </a:prstGeom>
        </p:spPr>
        <p:txBody>
          <a:bodyPr anchor="t" rtlCol="false" tIns="0" lIns="0" bIns="0" rIns="0">
            <a:spAutoFit/>
          </a:bodyPr>
          <a:lstStyle/>
          <a:p>
            <a:pPr algn="l">
              <a:lnSpc>
                <a:spcPts val="5062"/>
              </a:lnSpc>
            </a:pPr>
            <a:r>
              <a:rPr lang="en-US" sz="4062" b="true">
                <a:solidFill>
                  <a:srgbClr val="020202"/>
                </a:solidFill>
                <a:latin typeface="PT Serif Bold"/>
                <a:ea typeface="PT Serif Bold"/>
                <a:cs typeface="PT Serif Bold"/>
                <a:sym typeface="PT Serif Bold"/>
              </a:rPr>
              <a:t>Selected Architecture: Layered Client-Server with API Gateway</a:t>
            </a:r>
          </a:p>
        </p:txBody>
      </p:sp>
      <p:sp>
        <p:nvSpPr>
          <p:cNvPr name="TextBox 8" id="8"/>
          <p:cNvSpPr txBox="true"/>
          <p:nvPr/>
        </p:nvSpPr>
        <p:spPr>
          <a:xfrm rot="0">
            <a:off x="7547077" y="2063648"/>
            <a:ext cx="10051847" cy="1011441"/>
          </a:xfrm>
          <a:prstGeom prst="rect">
            <a:avLst/>
          </a:prstGeom>
        </p:spPr>
        <p:txBody>
          <a:bodyPr anchor="t" rtlCol="false" tIns="0" lIns="0" bIns="0" rIns="0">
            <a:spAutoFit/>
          </a:bodyPr>
          <a:lstStyle/>
          <a:p>
            <a:pPr algn="l">
              <a:lnSpc>
                <a:spcPts val="2437"/>
              </a:lnSpc>
            </a:pPr>
            <a:r>
              <a:rPr lang="en-US" sz="1500">
                <a:solidFill>
                  <a:srgbClr val="383838"/>
                </a:solidFill>
                <a:latin typeface="DM Sans"/>
                <a:ea typeface="DM Sans"/>
                <a:cs typeface="DM Sans"/>
                <a:sym typeface="DM Sans"/>
              </a:rPr>
              <a:t>MindCare adopts a </a:t>
            </a:r>
            <a:r>
              <a:rPr lang="en-US" sz="1500" b="true">
                <a:solidFill>
                  <a:srgbClr val="383838"/>
                </a:solidFill>
                <a:latin typeface="DM Sans Bold"/>
                <a:ea typeface="DM Sans Bold"/>
                <a:cs typeface="DM Sans Bold"/>
                <a:sym typeface="DM Sans Bold"/>
              </a:rPr>
              <a:t>Layered Client-Server Architecture augmented with an API Gateway and Service Layer</a:t>
            </a:r>
            <a:r>
              <a:rPr lang="en-US" sz="1500">
                <a:solidFill>
                  <a:srgbClr val="383838"/>
                </a:solidFill>
                <a:latin typeface="DM Sans"/>
                <a:ea typeface="DM Sans"/>
                <a:cs typeface="DM Sans"/>
                <a:sym typeface="DM Sans"/>
              </a:rPr>
              <a:t>. This hybrid approach leverages the strengths of established paradigms to create a system that is robust, scalable, and manageable.</a:t>
            </a:r>
          </a:p>
        </p:txBody>
      </p:sp>
      <p:grpSp>
        <p:nvGrpSpPr>
          <p:cNvPr name="Group 9" id="9"/>
          <p:cNvGrpSpPr/>
          <p:nvPr/>
        </p:nvGrpSpPr>
        <p:grpSpPr>
          <a:xfrm rot="0">
            <a:off x="7547077" y="3296545"/>
            <a:ext cx="10051847" cy="1464316"/>
            <a:chOff x="0" y="0"/>
            <a:chExt cx="13402462" cy="1952422"/>
          </a:xfrm>
        </p:grpSpPr>
        <p:sp>
          <p:nvSpPr>
            <p:cNvPr name="Freeform 10" id="10"/>
            <p:cNvSpPr/>
            <p:nvPr/>
          </p:nvSpPr>
          <p:spPr>
            <a:xfrm flipH="false" flipV="false" rot="0">
              <a:off x="0" y="0"/>
              <a:ext cx="13402436" cy="1952371"/>
            </a:xfrm>
            <a:custGeom>
              <a:avLst/>
              <a:gdLst/>
              <a:ahLst/>
              <a:cxnLst/>
              <a:rect r="r" b="b" t="t" l="l"/>
              <a:pathLst>
                <a:path h="1952371" w="13402436">
                  <a:moveTo>
                    <a:pt x="0" y="39370"/>
                  </a:moveTo>
                  <a:cubicBezTo>
                    <a:pt x="0" y="17653"/>
                    <a:pt x="17653" y="0"/>
                    <a:pt x="39370" y="0"/>
                  </a:cubicBezTo>
                  <a:lnTo>
                    <a:pt x="13363067" y="0"/>
                  </a:lnTo>
                  <a:cubicBezTo>
                    <a:pt x="13384783" y="0"/>
                    <a:pt x="13402436" y="17653"/>
                    <a:pt x="13402436" y="39370"/>
                  </a:cubicBezTo>
                  <a:lnTo>
                    <a:pt x="13402436" y="1913001"/>
                  </a:lnTo>
                  <a:cubicBezTo>
                    <a:pt x="13402436" y="1934718"/>
                    <a:pt x="13384783" y="1952371"/>
                    <a:pt x="13363067" y="1952371"/>
                  </a:cubicBezTo>
                  <a:lnTo>
                    <a:pt x="39370" y="1952371"/>
                  </a:lnTo>
                  <a:cubicBezTo>
                    <a:pt x="17653" y="1952371"/>
                    <a:pt x="0" y="1934718"/>
                    <a:pt x="0" y="1913001"/>
                  </a:cubicBezTo>
                  <a:close/>
                </a:path>
              </a:pathLst>
            </a:custGeom>
            <a:solidFill>
              <a:srgbClr val="F2EEEE"/>
            </a:solidFill>
            <a:ln w="12700">
              <a:solidFill>
                <a:srgbClr val="000000"/>
              </a:solidFill>
            </a:ln>
          </p:spPr>
        </p:sp>
      </p:grpSp>
      <p:sp>
        <p:nvSpPr>
          <p:cNvPr name="TextBox 11" id="11"/>
          <p:cNvSpPr txBox="true"/>
          <p:nvPr/>
        </p:nvSpPr>
        <p:spPr>
          <a:xfrm rot="0">
            <a:off x="7743825" y="3474244"/>
            <a:ext cx="2835176" cy="320675"/>
          </a:xfrm>
          <a:prstGeom prst="rect">
            <a:avLst/>
          </a:prstGeom>
        </p:spPr>
        <p:txBody>
          <a:bodyPr anchor="t" rtlCol="false" tIns="0" lIns="0" bIns="0" rIns="0">
            <a:spAutoFit/>
          </a:bodyPr>
          <a:lstStyle/>
          <a:p>
            <a:pPr algn="l">
              <a:lnSpc>
                <a:spcPts val="2500"/>
              </a:lnSpc>
            </a:pPr>
            <a:r>
              <a:rPr lang="en-US" sz="2000" b="true">
                <a:solidFill>
                  <a:srgbClr val="383838"/>
                </a:solidFill>
                <a:latin typeface="PT Serif Bold"/>
                <a:ea typeface="PT Serif Bold"/>
                <a:cs typeface="PT Serif Bold"/>
                <a:sym typeface="PT Serif Bold"/>
              </a:rPr>
              <a:t>Separation of Concerns</a:t>
            </a:r>
          </a:p>
        </p:txBody>
      </p:sp>
      <p:sp>
        <p:nvSpPr>
          <p:cNvPr name="TextBox 12" id="12"/>
          <p:cNvSpPr txBox="true"/>
          <p:nvPr/>
        </p:nvSpPr>
        <p:spPr>
          <a:xfrm rot="0">
            <a:off x="7743825" y="3867598"/>
            <a:ext cx="9658350" cy="696516"/>
          </a:xfrm>
          <a:prstGeom prst="rect">
            <a:avLst/>
          </a:prstGeom>
        </p:spPr>
        <p:txBody>
          <a:bodyPr anchor="t" rtlCol="false" tIns="0" lIns="0" bIns="0" rIns="0">
            <a:spAutoFit/>
          </a:bodyPr>
          <a:lstStyle/>
          <a:p>
            <a:pPr algn="l">
              <a:lnSpc>
                <a:spcPts val="2437"/>
              </a:lnSpc>
            </a:pPr>
            <a:r>
              <a:rPr lang="en-US" sz="1500">
                <a:solidFill>
                  <a:srgbClr val="383838"/>
                </a:solidFill>
                <a:latin typeface="DM Sans"/>
                <a:ea typeface="DM Sans"/>
                <a:cs typeface="DM Sans"/>
                <a:sym typeface="DM Sans"/>
              </a:rPr>
              <a:t>Clear division of responsibilities across layers and services ensures modularity and simplifies development.</a:t>
            </a:r>
          </a:p>
        </p:txBody>
      </p:sp>
      <p:grpSp>
        <p:nvGrpSpPr>
          <p:cNvPr name="Group 13" id="13"/>
          <p:cNvGrpSpPr/>
          <p:nvPr/>
        </p:nvGrpSpPr>
        <p:grpSpPr>
          <a:xfrm rot="0">
            <a:off x="7547077" y="4957610"/>
            <a:ext cx="10051847" cy="1464316"/>
            <a:chOff x="0" y="0"/>
            <a:chExt cx="13402462" cy="1952422"/>
          </a:xfrm>
        </p:grpSpPr>
        <p:sp>
          <p:nvSpPr>
            <p:cNvPr name="Freeform 14" id="14"/>
            <p:cNvSpPr/>
            <p:nvPr/>
          </p:nvSpPr>
          <p:spPr>
            <a:xfrm flipH="false" flipV="false" rot="0">
              <a:off x="0" y="0"/>
              <a:ext cx="13402436" cy="1952371"/>
            </a:xfrm>
            <a:custGeom>
              <a:avLst/>
              <a:gdLst/>
              <a:ahLst/>
              <a:cxnLst/>
              <a:rect r="r" b="b" t="t" l="l"/>
              <a:pathLst>
                <a:path h="1952371" w="13402436">
                  <a:moveTo>
                    <a:pt x="0" y="39370"/>
                  </a:moveTo>
                  <a:cubicBezTo>
                    <a:pt x="0" y="17653"/>
                    <a:pt x="17653" y="0"/>
                    <a:pt x="39370" y="0"/>
                  </a:cubicBezTo>
                  <a:lnTo>
                    <a:pt x="13363067" y="0"/>
                  </a:lnTo>
                  <a:cubicBezTo>
                    <a:pt x="13384783" y="0"/>
                    <a:pt x="13402436" y="17653"/>
                    <a:pt x="13402436" y="39370"/>
                  </a:cubicBezTo>
                  <a:lnTo>
                    <a:pt x="13402436" y="1913001"/>
                  </a:lnTo>
                  <a:cubicBezTo>
                    <a:pt x="13402436" y="1934718"/>
                    <a:pt x="13384783" y="1952371"/>
                    <a:pt x="13363067" y="1952371"/>
                  </a:cubicBezTo>
                  <a:lnTo>
                    <a:pt x="39370" y="1952371"/>
                  </a:lnTo>
                  <a:cubicBezTo>
                    <a:pt x="17653" y="1952371"/>
                    <a:pt x="0" y="1934718"/>
                    <a:pt x="0" y="1913001"/>
                  </a:cubicBezTo>
                  <a:close/>
                </a:path>
              </a:pathLst>
            </a:custGeom>
            <a:solidFill>
              <a:srgbClr val="F2EEEE"/>
            </a:solidFill>
            <a:ln w="12700">
              <a:solidFill>
                <a:srgbClr val="000000"/>
              </a:solidFill>
            </a:ln>
          </p:spPr>
        </p:sp>
      </p:grpSp>
      <p:sp>
        <p:nvSpPr>
          <p:cNvPr name="TextBox 15" id="15"/>
          <p:cNvSpPr txBox="true"/>
          <p:nvPr/>
        </p:nvSpPr>
        <p:spPr>
          <a:xfrm rot="0">
            <a:off x="7743825" y="5135318"/>
            <a:ext cx="2253109" cy="320675"/>
          </a:xfrm>
          <a:prstGeom prst="rect">
            <a:avLst/>
          </a:prstGeom>
        </p:spPr>
        <p:txBody>
          <a:bodyPr anchor="t" rtlCol="false" tIns="0" lIns="0" bIns="0" rIns="0">
            <a:spAutoFit/>
          </a:bodyPr>
          <a:lstStyle/>
          <a:p>
            <a:pPr algn="l">
              <a:lnSpc>
                <a:spcPts val="2500"/>
              </a:lnSpc>
            </a:pPr>
            <a:r>
              <a:rPr lang="en-US" sz="2000" b="true">
                <a:solidFill>
                  <a:srgbClr val="383838"/>
                </a:solidFill>
                <a:latin typeface="PT Serif Bold"/>
                <a:ea typeface="PT Serif Bold"/>
                <a:cs typeface="PT Serif Bold"/>
                <a:sym typeface="PT Serif Bold"/>
              </a:rPr>
              <a:t>Enhanced Security</a:t>
            </a:r>
          </a:p>
        </p:txBody>
      </p:sp>
      <p:sp>
        <p:nvSpPr>
          <p:cNvPr name="TextBox 16" id="16"/>
          <p:cNvSpPr txBox="true"/>
          <p:nvPr/>
        </p:nvSpPr>
        <p:spPr>
          <a:xfrm rot="0">
            <a:off x="7743825" y="5528672"/>
            <a:ext cx="9658350" cy="696516"/>
          </a:xfrm>
          <a:prstGeom prst="rect">
            <a:avLst/>
          </a:prstGeom>
        </p:spPr>
        <p:txBody>
          <a:bodyPr anchor="t" rtlCol="false" tIns="0" lIns="0" bIns="0" rIns="0">
            <a:spAutoFit/>
          </a:bodyPr>
          <a:lstStyle/>
          <a:p>
            <a:pPr algn="l">
              <a:lnSpc>
                <a:spcPts val="2437"/>
              </a:lnSpc>
            </a:pPr>
            <a:r>
              <a:rPr lang="en-US" sz="1500">
                <a:solidFill>
                  <a:srgbClr val="383838"/>
                </a:solidFill>
                <a:latin typeface="DM Sans"/>
                <a:ea typeface="DM Sans"/>
                <a:cs typeface="DM Sans"/>
                <a:sym typeface="DM Sans"/>
              </a:rPr>
              <a:t>API Gateway centralises authentication and authorisation, providing a single point for security enforcement.</a:t>
            </a:r>
          </a:p>
        </p:txBody>
      </p:sp>
      <p:grpSp>
        <p:nvGrpSpPr>
          <p:cNvPr name="Group 17" id="17"/>
          <p:cNvGrpSpPr/>
          <p:nvPr/>
        </p:nvGrpSpPr>
        <p:grpSpPr>
          <a:xfrm rot="0">
            <a:off x="7547077" y="6618684"/>
            <a:ext cx="10051847" cy="1464316"/>
            <a:chOff x="0" y="0"/>
            <a:chExt cx="13402462" cy="1952422"/>
          </a:xfrm>
        </p:grpSpPr>
        <p:sp>
          <p:nvSpPr>
            <p:cNvPr name="Freeform 18" id="18"/>
            <p:cNvSpPr/>
            <p:nvPr/>
          </p:nvSpPr>
          <p:spPr>
            <a:xfrm flipH="false" flipV="false" rot="0">
              <a:off x="0" y="0"/>
              <a:ext cx="13402436" cy="1952371"/>
            </a:xfrm>
            <a:custGeom>
              <a:avLst/>
              <a:gdLst/>
              <a:ahLst/>
              <a:cxnLst/>
              <a:rect r="r" b="b" t="t" l="l"/>
              <a:pathLst>
                <a:path h="1952371" w="13402436">
                  <a:moveTo>
                    <a:pt x="0" y="39370"/>
                  </a:moveTo>
                  <a:cubicBezTo>
                    <a:pt x="0" y="17653"/>
                    <a:pt x="17653" y="0"/>
                    <a:pt x="39370" y="0"/>
                  </a:cubicBezTo>
                  <a:lnTo>
                    <a:pt x="13363067" y="0"/>
                  </a:lnTo>
                  <a:cubicBezTo>
                    <a:pt x="13384783" y="0"/>
                    <a:pt x="13402436" y="17653"/>
                    <a:pt x="13402436" y="39370"/>
                  </a:cubicBezTo>
                  <a:lnTo>
                    <a:pt x="13402436" y="1913001"/>
                  </a:lnTo>
                  <a:cubicBezTo>
                    <a:pt x="13402436" y="1934718"/>
                    <a:pt x="13384783" y="1952371"/>
                    <a:pt x="13363067" y="1952371"/>
                  </a:cubicBezTo>
                  <a:lnTo>
                    <a:pt x="39370" y="1952371"/>
                  </a:lnTo>
                  <a:cubicBezTo>
                    <a:pt x="17653" y="1952371"/>
                    <a:pt x="0" y="1934718"/>
                    <a:pt x="0" y="1913001"/>
                  </a:cubicBezTo>
                  <a:close/>
                </a:path>
              </a:pathLst>
            </a:custGeom>
            <a:solidFill>
              <a:srgbClr val="F2EEEE"/>
            </a:solidFill>
            <a:ln w="12700">
              <a:solidFill>
                <a:srgbClr val="000000"/>
              </a:solidFill>
            </a:ln>
          </p:spPr>
        </p:sp>
      </p:grpSp>
      <p:sp>
        <p:nvSpPr>
          <p:cNvPr name="TextBox 19" id="19"/>
          <p:cNvSpPr txBox="true"/>
          <p:nvPr/>
        </p:nvSpPr>
        <p:spPr>
          <a:xfrm rot="0">
            <a:off x="7743825" y="6796383"/>
            <a:ext cx="3530203" cy="320675"/>
          </a:xfrm>
          <a:prstGeom prst="rect">
            <a:avLst/>
          </a:prstGeom>
        </p:spPr>
        <p:txBody>
          <a:bodyPr anchor="t" rtlCol="false" tIns="0" lIns="0" bIns="0" rIns="0">
            <a:spAutoFit/>
          </a:bodyPr>
          <a:lstStyle/>
          <a:p>
            <a:pPr algn="l">
              <a:lnSpc>
                <a:spcPts val="2500"/>
              </a:lnSpc>
            </a:pPr>
            <a:r>
              <a:rPr lang="en-US" sz="2000" b="true">
                <a:solidFill>
                  <a:srgbClr val="383838"/>
                </a:solidFill>
                <a:latin typeface="PT Serif Bold"/>
                <a:ea typeface="PT Serif Bold"/>
                <a:cs typeface="PT Serif Bold"/>
                <a:sym typeface="PT Serif Bold"/>
              </a:rPr>
              <a:t>Scalability &amp; Maintainability</a:t>
            </a:r>
          </a:p>
        </p:txBody>
      </p:sp>
      <p:sp>
        <p:nvSpPr>
          <p:cNvPr name="TextBox 20" id="20"/>
          <p:cNvSpPr txBox="true"/>
          <p:nvPr/>
        </p:nvSpPr>
        <p:spPr>
          <a:xfrm rot="0">
            <a:off x="7743825" y="7189737"/>
            <a:ext cx="9658350" cy="696516"/>
          </a:xfrm>
          <a:prstGeom prst="rect">
            <a:avLst/>
          </a:prstGeom>
        </p:spPr>
        <p:txBody>
          <a:bodyPr anchor="t" rtlCol="false" tIns="0" lIns="0" bIns="0" rIns="0">
            <a:spAutoFit/>
          </a:bodyPr>
          <a:lstStyle/>
          <a:p>
            <a:pPr algn="l">
              <a:lnSpc>
                <a:spcPts val="2437"/>
              </a:lnSpc>
            </a:pPr>
            <a:r>
              <a:rPr lang="en-US" sz="1500">
                <a:solidFill>
                  <a:srgbClr val="383838"/>
                </a:solidFill>
                <a:latin typeface="DM Sans"/>
                <a:ea typeface="DM Sans"/>
                <a:cs typeface="DM Sans"/>
                <a:sym typeface="DM Sans"/>
              </a:rPr>
              <a:t>Independent services allow for targeted scaling and easier maintenance, reducing the risk of system-wide impacts from changes.</a:t>
            </a:r>
          </a:p>
        </p:txBody>
      </p:sp>
      <p:grpSp>
        <p:nvGrpSpPr>
          <p:cNvPr name="Group 21" id="21"/>
          <p:cNvGrpSpPr/>
          <p:nvPr/>
        </p:nvGrpSpPr>
        <p:grpSpPr>
          <a:xfrm rot="0">
            <a:off x="7547077" y="8279759"/>
            <a:ext cx="10051847" cy="1464316"/>
            <a:chOff x="0" y="0"/>
            <a:chExt cx="13402462" cy="1952422"/>
          </a:xfrm>
        </p:grpSpPr>
        <p:sp>
          <p:nvSpPr>
            <p:cNvPr name="Freeform 22" id="22"/>
            <p:cNvSpPr/>
            <p:nvPr/>
          </p:nvSpPr>
          <p:spPr>
            <a:xfrm flipH="false" flipV="false" rot="0">
              <a:off x="0" y="0"/>
              <a:ext cx="13402436" cy="1952371"/>
            </a:xfrm>
            <a:custGeom>
              <a:avLst/>
              <a:gdLst/>
              <a:ahLst/>
              <a:cxnLst/>
              <a:rect r="r" b="b" t="t" l="l"/>
              <a:pathLst>
                <a:path h="1952371" w="13402436">
                  <a:moveTo>
                    <a:pt x="0" y="39370"/>
                  </a:moveTo>
                  <a:cubicBezTo>
                    <a:pt x="0" y="17653"/>
                    <a:pt x="17653" y="0"/>
                    <a:pt x="39370" y="0"/>
                  </a:cubicBezTo>
                  <a:lnTo>
                    <a:pt x="13363067" y="0"/>
                  </a:lnTo>
                  <a:cubicBezTo>
                    <a:pt x="13384783" y="0"/>
                    <a:pt x="13402436" y="17653"/>
                    <a:pt x="13402436" y="39370"/>
                  </a:cubicBezTo>
                  <a:lnTo>
                    <a:pt x="13402436" y="1913001"/>
                  </a:lnTo>
                  <a:cubicBezTo>
                    <a:pt x="13402436" y="1934718"/>
                    <a:pt x="13384783" y="1952371"/>
                    <a:pt x="13363067" y="1952371"/>
                  </a:cubicBezTo>
                  <a:lnTo>
                    <a:pt x="39370" y="1952371"/>
                  </a:lnTo>
                  <a:cubicBezTo>
                    <a:pt x="17653" y="1952371"/>
                    <a:pt x="0" y="1934718"/>
                    <a:pt x="0" y="1913001"/>
                  </a:cubicBezTo>
                  <a:close/>
                </a:path>
              </a:pathLst>
            </a:custGeom>
            <a:solidFill>
              <a:srgbClr val="F2EEEE"/>
            </a:solidFill>
            <a:ln w="12700">
              <a:solidFill>
                <a:srgbClr val="000000"/>
              </a:solidFill>
            </a:ln>
          </p:spPr>
        </p:sp>
      </p:grpSp>
      <p:sp>
        <p:nvSpPr>
          <p:cNvPr name="TextBox 23" id="23"/>
          <p:cNvSpPr txBox="true"/>
          <p:nvPr/>
        </p:nvSpPr>
        <p:spPr>
          <a:xfrm rot="0">
            <a:off x="7743825" y="8457457"/>
            <a:ext cx="2885033" cy="320675"/>
          </a:xfrm>
          <a:prstGeom prst="rect">
            <a:avLst/>
          </a:prstGeom>
        </p:spPr>
        <p:txBody>
          <a:bodyPr anchor="t" rtlCol="false" tIns="0" lIns="0" bIns="0" rIns="0">
            <a:spAutoFit/>
          </a:bodyPr>
          <a:lstStyle/>
          <a:p>
            <a:pPr algn="l">
              <a:lnSpc>
                <a:spcPts val="2500"/>
              </a:lnSpc>
            </a:pPr>
            <a:r>
              <a:rPr lang="en-US" sz="2000" b="true">
                <a:solidFill>
                  <a:srgbClr val="383838"/>
                </a:solidFill>
                <a:latin typeface="PT Serif Bold"/>
                <a:ea typeface="PT Serif Bold"/>
                <a:cs typeface="PT Serif Bold"/>
                <a:sym typeface="PT Serif Bold"/>
              </a:rPr>
              <a:t>Real-time &amp; AI Support</a:t>
            </a:r>
          </a:p>
        </p:txBody>
      </p:sp>
      <p:sp>
        <p:nvSpPr>
          <p:cNvPr name="TextBox 24" id="24"/>
          <p:cNvSpPr txBox="true"/>
          <p:nvPr/>
        </p:nvSpPr>
        <p:spPr>
          <a:xfrm rot="0">
            <a:off x="7743825" y="8850811"/>
            <a:ext cx="9658350" cy="696516"/>
          </a:xfrm>
          <a:prstGeom prst="rect">
            <a:avLst/>
          </a:prstGeom>
        </p:spPr>
        <p:txBody>
          <a:bodyPr anchor="t" rtlCol="false" tIns="0" lIns="0" bIns="0" rIns="0">
            <a:spAutoFit/>
          </a:bodyPr>
          <a:lstStyle/>
          <a:p>
            <a:pPr algn="l">
              <a:lnSpc>
                <a:spcPts val="2437"/>
              </a:lnSpc>
            </a:pPr>
            <a:r>
              <a:rPr lang="en-US" sz="1500">
                <a:solidFill>
                  <a:srgbClr val="383838"/>
                </a:solidFill>
                <a:latin typeface="DM Sans"/>
                <a:ea typeface="DM Sans"/>
                <a:cs typeface="DM Sans"/>
                <a:sym typeface="DM Sans"/>
              </a:rPr>
              <a:t>The service-oriented approach accommodates real-time communication and integrates AI processing efficiently.</a:t>
            </a:r>
          </a:p>
        </p:txBody>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AFA"/>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a:ln w="12700">
              <a:solidFill>
                <a:srgbClr val="000000"/>
              </a:solidFill>
            </a:ln>
          </p:spPr>
        </p:sp>
      </p:grpSp>
      <p:sp>
        <p:nvSpPr>
          <p:cNvPr name="Freeform 6" id="6" descr="preencoded.png">
            <a:hlinkClick r:id="rId4" tooltip="https://gamma.app/?utm_source=made-with-gamma"/>
          </p:cNvPr>
          <p:cNvSpPr/>
          <p:nvPr/>
        </p:nvSpPr>
        <p:spPr>
          <a:xfrm flipH="false" flipV="false" rot="0">
            <a:off x="16049015" y="9686925"/>
            <a:ext cx="2153260" cy="514350"/>
          </a:xfrm>
          <a:custGeom>
            <a:avLst/>
            <a:gdLst/>
            <a:ahLst/>
            <a:cxnLst/>
            <a:rect r="r" b="b" t="t" l="l"/>
            <a:pathLst>
              <a:path h="514350" w="2153260">
                <a:moveTo>
                  <a:pt x="0" y="0"/>
                </a:moveTo>
                <a:lnTo>
                  <a:pt x="2153260" y="0"/>
                </a:lnTo>
                <a:lnTo>
                  <a:pt x="2153260" y="514350"/>
                </a:lnTo>
                <a:lnTo>
                  <a:pt x="0" y="514350"/>
                </a:lnTo>
                <a:lnTo>
                  <a:pt x="0" y="0"/>
                </a:lnTo>
                <a:close/>
              </a:path>
            </a:pathLst>
          </a:custGeom>
          <a:blipFill>
            <a:blip r:embed="rId3"/>
            <a:stretch>
              <a:fillRect l="0" t="0" r="0" b="0"/>
            </a:stretch>
          </a:blipFill>
        </p:spPr>
      </p:sp>
      <p:sp>
        <p:nvSpPr>
          <p:cNvPr name="Freeform 7" id="7" descr="preencoded.png"/>
          <p:cNvSpPr/>
          <p:nvPr/>
        </p:nvSpPr>
        <p:spPr>
          <a:xfrm flipH="false" flipV="false" rot="0">
            <a:off x="11430000" y="0"/>
            <a:ext cx="6858000" cy="10287000"/>
          </a:xfrm>
          <a:custGeom>
            <a:avLst/>
            <a:gdLst/>
            <a:ahLst/>
            <a:cxnLst/>
            <a:rect r="r" b="b" t="t" l="l"/>
            <a:pathLst>
              <a:path h="10287000" w="6858000">
                <a:moveTo>
                  <a:pt x="0" y="0"/>
                </a:moveTo>
                <a:lnTo>
                  <a:pt x="6858000" y="0"/>
                </a:lnTo>
                <a:lnTo>
                  <a:pt x="6858000" y="10287000"/>
                </a:lnTo>
                <a:lnTo>
                  <a:pt x="0" y="10287000"/>
                </a:lnTo>
                <a:lnTo>
                  <a:pt x="0" y="0"/>
                </a:lnTo>
                <a:close/>
              </a:path>
            </a:pathLst>
          </a:custGeom>
          <a:blipFill>
            <a:blip r:embed="rId5"/>
            <a:stretch>
              <a:fillRect l="0" t="0" r="0" b="0"/>
            </a:stretch>
          </a:blipFill>
        </p:spPr>
      </p:sp>
      <p:sp>
        <p:nvSpPr>
          <p:cNvPr name="Freeform 8" id="8" descr="preencoded.png"/>
          <p:cNvSpPr/>
          <p:nvPr/>
        </p:nvSpPr>
        <p:spPr>
          <a:xfrm flipH="false" flipV="false" rot="0">
            <a:off x="11784359" y="3413674"/>
            <a:ext cx="6149130" cy="3459661"/>
          </a:xfrm>
          <a:custGeom>
            <a:avLst/>
            <a:gdLst/>
            <a:ahLst/>
            <a:cxnLst/>
            <a:rect r="r" b="b" t="t" l="l"/>
            <a:pathLst>
              <a:path h="3459661" w="6149130">
                <a:moveTo>
                  <a:pt x="0" y="0"/>
                </a:moveTo>
                <a:lnTo>
                  <a:pt x="6149130" y="0"/>
                </a:lnTo>
                <a:lnTo>
                  <a:pt x="6149130" y="3459661"/>
                </a:lnTo>
                <a:lnTo>
                  <a:pt x="0" y="3459661"/>
                </a:lnTo>
                <a:lnTo>
                  <a:pt x="0" y="0"/>
                </a:lnTo>
                <a:close/>
              </a:path>
            </a:pathLst>
          </a:custGeom>
          <a:blipFill>
            <a:blip r:embed="rId6"/>
            <a:stretch>
              <a:fillRect l="0" t="0" r="0" b="0"/>
            </a:stretch>
          </a:blipFill>
        </p:spPr>
      </p:sp>
      <p:sp>
        <p:nvSpPr>
          <p:cNvPr name="TextBox 9" id="9"/>
          <p:cNvSpPr txBox="true"/>
          <p:nvPr/>
        </p:nvSpPr>
        <p:spPr>
          <a:xfrm rot="0">
            <a:off x="992238" y="3055144"/>
            <a:ext cx="9445523" cy="1843088"/>
          </a:xfrm>
          <a:prstGeom prst="rect">
            <a:avLst/>
          </a:prstGeom>
        </p:spPr>
        <p:txBody>
          <a:bodyPr anchor="t" rtlCol="false" tIns="0" lIns="0" bIns="0" rIns="0">
            <a:spAutoFit/>
          </a:bodyPr>
          <a:lstStyle/>
          <a:p>
            <a:pPr algn="l">
              <a:lnSpc>
                <a:spcPts val="7312"/>
              </a:lnSpc>
            </a:pPr>
            <a:r>
              <a:rPr lang="en-US" sz="5812" b="true">
                <a:solidFill>
                  <a:srgbClr val="020202"/>
                </a:solidFill>
                <a:latin typeface="PT Serif Bold"/>
                <a:ea typeface="PT Serif Bold"/>
                <a:cs typeface="PT Serif Bold"/>
                <a:sym typeface="PT Serif Bold"/>
              </a:rPr>
              <a:t>MindCare: Detailed System Architecture</a:t>
            </a:r>
          </a:p>
        </p:txBody>
      </p:sp>
      <p:sp>
        <p:nvSpPr>
          <p:cNvPr name="TextBox 10" id="10"/>
          <p:cNvSpPr txBox="true"/>
          <p:nvPr/>
        </p:nvSpPr>
        <p:spPr>
          <a:xfrm rot="0">
            <a:off x="992238" y="5283841"/>
            <a:ext cx="9445523" cy="1909762"/>
          </a:xfrm>
          <a:prstGeom prst="rect">
            <a:avLst/>
          </a:prstGeom>
        </p:spPr>
        <p:txBody>
          <a:bodyPr anchor="t" rtlCol="false" tIns="0" lIns="0" bIns="0" rIns="0">
            <a:spAutoFit/>
          </a:bodyPr>
          <a:lstStyle/>
          <a:p>
            <a:pPr algn="l">
              <a:lnSpc>
                <a:spcPts val="3562"/>
              </a:lnSpc>
            </a:pPr>
            <a:r>
              <a:rPr lang="en-US" sz="2187">
                <a:solidFill>
                  <a:srgbClr val="383838"/>
                </a:solidFill>
                <a:latin typeface="DM Sans"/>
                <a:ea typeface="DM Sans"/>
                <a:cs typeface="DM Sans"/>
                <a:sym typeface="DM Sans"/>
              </a:rPr>
              <a:t>The architecture diagram illustrates the distinct layers and components of the MindCare system, demonstrating how client requests flow through the API Gateway to various backend services and interact with data and external systems.</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AFA"/>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a:ln w="12700">
              <a:solidFill>
                <a:srgbClr val="000000"/>
              </a:solidFill>
            </a:ln>
          </p:spPr>
        </p:sp>
      </p:grpSp>
      <p:sp>
        <p:nvSpPr>
          <p:cNvPr name="TextBox 6" id="6"/>
          <p:cNvSpPr txBox="true"/>
          <p:nvPr/>
        </p:nvSpPr>
        <p:spPr>
          <a:xfrm rot="0">
            <a:off x="834923" y="944013"/>
            <a:ext cx="7964537" cy="774700"/>
          </a:xfrm>
          <a:prstGeom prst="rect">
            <a:avLst/>
          </a:prstGeom>
        </p:spPr>
        <p:txBody>
          <a:bodyPr anchor="t" rtlCol="false" tIns="0" lIns="0" bIns="0" rIns="0">
            <a:spAutoFit/>
          </a:bodyPr>
          <a:lstStyle/>
          <a:p>
            <a:pPr algn="l">
              <a:lnSpc>
                <a:spcPts val="6125"/>
              </a:lnSpc>
            </a:pPr>
            <a:r>
              <a:rPr lang="en-US" sz="4875" b="true">
                <a:solidFill>
                  <a:srgbClr val="020202"/>
                </a:solidFill>
                <a:latin typeface="PT Serif Bold"/>
                <a:ea typeface="PT Serif Bold"/>
                <a:cs typeface="PT Serif Bold"/>
                <a:sym typeface="PT Serif Bold"/>
              </a:rPr>
              <a:t>Layer-by-Layer Breakdown</a:t>
            </a:r>
          </a:p>
        </p:txBody>
      </p:sp>
      <p:grpSp>
        <p:nvGrpSpPr>
          <p:cNvPr name="Group 7" id="7"/>
          <p:cNvGrpSpPr/>
          <p:nvPr/>
        </p:nvGrpSpPr>
        <p:grpSpPr>
          <a:xfrm rot="0">
            <a:off x="820636" y="2585590"/>
            <a:ext cx="8218284" cy="2754954"/>
            <a:chOff x="0" y="0"/>
            <a:chExt cx="10957712" cy="3673272"/>
          </a:xfrm>
        </p:grpSpPr>
        <p:sp>
          <p:nvSpPr>
            <p:cNvPr name="Freeform 8" id="8"/>
            <p:cNvSpPr/>
            <p:nvPr/>
          </p:nvSpPr>
          <p:spPr>
            <a:xfrm flipH="false" flipV="false" rot="0">
              <a:off x="19050" y="19050"/>
              <a:ext cx="10919588" cy="3635248"/>
            </a:xfrm>
            <a:custGeom>
              <a:avLst/>
              <a:gdLst/>
              <a:ahLst/>
              <a:cxnLst/>
              <a:rect r="r" b="b" t="t" l="l"/>
              <a:pathLst>
                <a:path h="3635248" w="10919588">
                  <a:moveTo>
                    <a:pt x="0" y="47752"/>
                  </a:moveTo>
                  <a:cubicBezTo>
                    <a:pt x="0" y="21336"/>
                    <a:pt x="21463" y="0"/>
                    <a:pt x="48006" y="0"/>
                  </a:cubicBezTo>
                  <a:lnTo>
                    <a:pt x="10871581" y="0"/>
                  </a:lnTo>
                  <a:cubicBezTo>
                    <a:pt x="10898125" y="0"/>
                    <a:pt x="10919588" y="21336"/>
                    <a:pt x="10919588" y="47752"/>
                  </a:cubicBezTo>
                  <a:lnTo>
                    <a:pt x="10919588" y="3587496"/>
                  </a:lnTo>
                  <a:cubicBezTo>
                    <a:pt x="10919588" y="3613912"/>
                    <a:pt x="10898125" y="3635248"/>
                    <a:pt x="10871581" y="3635248"/>
                  </a:cubicBezTo>
                  <a:lnTo>
                    <a:pt x="48006" y="3635248"/>
                  </a:lnTo>
                  <a:cubicBezTo>
                    <a:pt x="21463" y="3635248"/>
                    <a:pt x="0" y="3613912"/>
                    <a:pt x="0" y="3587496"/>
                  </a:cubicBezTo>
                  <a:close/>
                </a:path>
              </a:pathLst>
            </a:custGeom>
            <a:solidFill>
              <a:srgbClr val="FFFFFF"/>
            </a:solidFill>
            <a:ln w="12700">
              <a:solidFill>
                <a:srgbClr val="000000"/>
              </a:solidFill>
            </a:ln>
          </p:spPr>
        </p:sp>
        <p:sp>
          <p:nvSpPr>
            <p:cNvPr name="Freeform 9" id="9"/>
            <p:cNvSpPr/>
            <p:nvPr/>
          </p:nvSpPr>
          <p:spPr>
            <a:xfrm flipH="false" flipV="false" rot="0">
              <a:off x="0" y="0"/>
              <a:ext cx="10957688" cy="3673348"/>
            </a:xfrm>
            <a:custGeom>
              <a:avLst/>
              <a:gdLst/>
              <a:ahLst/>
              <a:cxnLst/>
              <a:rect r="r" b="b" t="t" l="l"/>
              <a:pathLst>
                <a:path h="3673348" w="10957688">
                  <a:moveTo>
                    <a:pt x="0" y="66802"/>
                  </a:moveTo>
                  <a:cubicBezTo>
                    <a:pt x="0" y="29718"/>
                    <a:pt x="30226" y="0"/>
                    <a:pt x="67056" y="0"/>
                  </a:cubicBezTo>
                  <a:lnTo>
                    <a:pt x="10890631" y="0"/>
                  </a:lnTo>
                  <a:lnTo>
                    <a:pt x="10890631" y="19050"/>
                  </a:lnTo>
                  <a:lnTo>
                    <a:pt x="10890631" y="0"/>
                  </a:lnTo>
                  <a:cubicBezTo>
                    <a:pt x="10927588" y="0"/>
                    <a:pt x="10957688" y="29718"/>
                    <a:pt x="10957688" y="66802"/>
                  </a:cubicBezTo>
                  <a:lnTo>
                    <a:pt x="10938638" y="66802"/>
                  </a:lnTo>
                  <a:lnTo>
                    <a:pt x="10957688" y="66802"/>
                  </a:lnTo>
                  <a:lnTo>
                    <a:pt x="10957688" y="3606546"/>
                  </a:lnTo>
                  <a:lnTo>
                    <a:pt x="10938638" y="3606546"/>
                  </a:lnTo>
                  <a:lnTo>
                    <a:pt x="10957688" y="3606546"/>
                  </a:lnTo>
                  <a:cubicBezTo>
                    <a:pt x="10957688" y="3643503"/>
                    <a:pt x="10927462" y="3673348"/>
                    <a:pt x="10890631" y="3673348"/>
                  </a:cubicBezTo>
                  <a:lnTo>
                    <a:pt x="10890631" y="3654298"/>
                  </a:lnTo>
                  <a:lnTo>
                    <a:pt x="10890631" y="3673348"/>
                  </a:lnTo>
                  <a:lnTo>
                    <a:pt x="67056" y="3673348"/>
                  </a:lnTo>
                  <a:lnTo>
                    <a:pt x="67056" y="3654298"/>
                  </a:lnTo>
                  <a:lnTo>
                    <a:pt x="67056" y="3673348"/>
                  </a:lnTo>
                  <a:cubicBezTo>
                    <a:pt x="30099" y="3673348"/>
                    <a:pt x="0" y="3643630"/>
                    <a:pt x="0" y="3606546"/>
                  </a:cubicBezTo>
                  <a:lnTo>
                    <a:pt x="0" y="66802"/>
                  </a:lnTo>
                  <a:lnTo>
                    <a:pt x="19050" y="66802"/>
                  </a:lnTo>
                  <a:lnTo>
                    <a:pt x="0" y="66802"/>
                  </a:lnTo>
                  <a:moveTo>
                    <a:pt x="38100" y="66802"/>
                  </a:moveTo>
                  <a:lnTo>
                    <a:pt x="38100" y="3606546"/>
                  </a:lnTo>
                  <a:lnTo>
                    <a:pt x="19050" y="3606546"/>
                  </a:lnTo>
                  <a:lnTo>
                    <a:pt x="38100" y="3606546"/>
                  </a:lnTo>
                  <a:cubicBezTo>
                    <a:pt x="38100" y="3622294"/>
                    <a:pt x="50927" y="3635248"/>
                    <a:pt x="67056" y="3635248"/>
                  </a:cubicBezTo>
                  <a:lnTo>
                    <a:pt x="10890631" y="3635248"/>
                  </a:lnTo>
                  <a:cubicBezTo>
                    <a:pt x="10906761" y="3635248"/>
                    <a:pt x="10919588" y="3622294"/>
                    <a:pt x="10919588" y="3606546"/>
                  </a:cubicBezTo>
                  <a:lnTo>
                    <a:pt x="10919588" y="66802"/>
                  </a:lnTo>
                  <a:cubicBezTo>
                    <a:pt x="10919588" y="51054"/>
                    <a:pt x="10906761" y="38100"/>
                    <a:pt x="10890631" y="38100"/>
                  </a:cubicBezTo>
                  <a:lnTo>
                    <a:pt x="67056" y="38100"/>
                  </a:lnTo>
                  <a:lnTo>
                    <a:pt x="67056" y="19050"/>
                  </a:lnTo>
                  <a:lnTo>
                    <a:pt x="67056" y="38100"/>
                  </a:lnTo>
                  <a:cubicBezTo>
                    <a:pt x="50927" y="38100"/>
                    <a:pt x="38100" y="51054"/>
                    <a:pt x="38100" y="66802"/>
                  </a:cubicBezTo>
                  <a:close/>
                </a:path>
              </a:pathLst>
            </a:custGeom>
            <a:solidFill>
              <a:srgbClr val="D8D4D4"/>
            </a:solidFill>
            <a:ln w="12700">
              <a:solidFill>
                <a:srgbClr val="000000"/>
              </a:solidFill>
            </a:ln>
          </p:spPr>
        </p:sp>
      </p:grpSp>
      <p:grpSp>
        <p:nvGrpSpPr>
          <p:cNvPr name="Group 10" id="10"/>
          <p:cNvGrpSpPr/>
          <p:nvPr/>
        </p:nvGrpSpPr>
        <p:grpSpPr>
          <a:xfrm rot="0">
            <a:off x="863498" y="2628452"/>
            <a:ext cx="8132559" cy="238573"/>
            <a:chOff x="0" y="0"/>
            <a:chExt cx="10843412" cy="318097"/>
          </a:xfrm>
        </p:grpSpPr>
        <p:sp>
          <p:nvSpPr>
            <p:cNvPr name="Freeform 11" id="11"/>
            <p:cNvSpPr/>
            <p:nvPr/>
          </p:nvSpPr>
          <p:spPr>
            <a:xfrm flipH="false" flipV="false" rot="0">
              <a:off x="0" y="0"/>
              <a:ext cx="10843514" cy="318135"/>
            </a:xfrm>
            <a:custGeom>
              <a:avLst/>
              <a:gdLst/>
              <a:ahLst/>
              <a:cxnLst/>
              <a:rect r="r" b="b" t="t" l="l"/>
              <a:pathLst>
                <a:path h="318135" w="10843514">
                  <a:moveTo>
                    <a:pt x="0" y="2032"/>
                  </a:moveTo>
                  <a:cubicBezTo>
                    <a:pt x="0" y="889"/>
                    <a:pt x="889" y="0"/>
                    <a:pt x="2032" y="0"/>
                  </a:cubicBezTo>
                  <a:lnTo>
                    <a:pt x="10841482" y="0"/>
                  </a:lnTo>
                  <a:cubicBezTo>
                    <a:pt x="10842625" y="0"/>
                    <a:pt x="10843514" y="889"/>
                    <a:pt x="10843514" y="2032"/>
                  </a:cubicBezTo>
                  <a:lnTo>
                    <a:pt x="10843514" y="316103"/>
                  </a:lnTo>
                  <a:cubicBezTo>
                    <a:pt x="10843514" y="317246"/>
                    <a:pt x="10842625" y="318135"/>
                    <a:pt x="10841482" y="318135"/>
                  </a:cubicBezTo>
                  <a:lnTo>
                    <a:pt x="2032" y="318135"/>
                  </a:lnTo>
                  <a:cubicBezTo>
                    <a:pt x="889" y="318135"/>
                    <a:pt x="0" y="317246"/>
                    <a:pt x="0" y="316103"/>
                  </a:cubicBezTo>
                  <a:close/>
                </a:path>
              </a:pathLst>
            </a:custGeom>
            <a:solidFill>
              <a:srgbClr val="F2EEEE"/>
            </a:solidFill>
            <a:ln w="12700">
              <a:solidFill>
                <a:srgbClr val="000000"/>
              </a:solidFill>
            </a:ln>
          </p:spPr>
        </p:sp>
      </p:grpSp>
      <p:sp>
        <p:nvSpPr>
          <p:cNvPr name="TextBox 12" id="12"/>
          <p:cNvSpPr txBox="true"/>
          <p:nvPr/>
        </p:nvSpPr>
        <p:spPr>
          <a:xfrm rot="0">
            <a:off x="1102071" y="3086548"/>
            <a:ext cx="1796207" cy="382588"/>
          </a:xfrm>
          <a:prstGeom prst="rect">
            <a:avLst/>
          </a:prstGeom>
        </p:spPr>
        <p:txBody>
          <a:bodyPr anchor="t" rtlCol="false" tIns="0" lIns="0" bIns="0" rIns="0">
            <a:spAutoFit/>
          </a:bodyPr>
          <a:lstStyle/>
          <a:p>
            <a:pPr algn="l">
              <a:lnSpc>
                <a:spcPts val="3062"/>
              </a:lnSpc>
            </a:pPr>
            <a:r>
              <a:rPr lang="en-US" sz="2437" b="true">
                <a:solidFill>
                  <a:srgbClr val="383838"/>
                </a:solidFill>
                <a:latin typeface="PT Serif Bold"/>
                <a:ea typeface="PT Serif Bold"/>
                <a:cs typeface="PT Serif Bold"/>
                <a:sym typeface="PT Serif Bold"/>
              </a:rPr>
              <a:t>Client Layer</a:t>
            </a:r>
          </a:p>
        </p:txBody>
      </p:sp>
      <p:sp>
        <p:nvSpPr>
          <p:cNvPr name="TextBox 13" id="13"/>
          <p:cNvSpPr txBox="true"/>
          <p:nvPr/>
        </p:nvSpPr>
        <p:spPr>
          <a:xfrm rot="0">
            <a:off x="1102071" y="3563836"/>
            <a:ext cx="7655423" cy="457791"/>
          </a:xfrm>
          <a:prstGeom prst="rect">
            <a:avLst/>
          </a:prstGeom>
        </p:spPr>
        <p:txBody>
          <a:bodyPr anchor="t" rtlCol="false" tIns="0" lIns="0" bIns="0" rIns="0">
            <a:spAutoFit/>
          </a:bodyPr>
          <a:lstStyle/>
          <a:p>
            <a:pPr algn="l" marL="282773" indent="-141387" lvl="1">
              <a:lnSpc>
                <a:spcPts val="3000"/>
              </a:lnSpc>
              <a:buFont typeface="Arial"/>
              <a:buChar char="•"/>
            </a:pPr>
            <a:r>
              <a:rPr lang="en-US" sz="1874">
                <a:solidFill>
                  <a:srgbClr val="383838"/>
                </a:solidFill>
                <a:latin typeface="DM Sans"/>
                <a:ea typeface="DM Sans"/>
                <a:cs typeface="DM Sans"/>
                <a:sym typeface="DM Sans"/>
              </a:rPr>
              <a:t>User-facing interfaces (Web Application, Mobile Application).</a:t>
            </a:r>
          </a:p>
        </p:txBody>
      </p:sp>
      <p:sp>
        <p:nvSpPr>
          <p:cNvPr name="TextBox 14" id="14"/>
          <p:cNvSpPr txBox="true"/>
          <p:nvPr/>
        </p:nvSpPr>
        <p:spPr>
          <a:xfrm rot="0">
            <a:off x="1102071" y="4028923"/>
            <a:ext cx="7655423" cy="457791"/>
          </a:xfrm>
          <a:prstGeom prst="rect">
            <a:avLst/>
          </a:prstGeom>
        </p:spPr>
        <p:txBody>
          <a:bodyPr anchor="t" rtlCol="false" tIns="0" lIns="0" bIns="0" rIns="0">
            <a:spAutoFit/>
          </a:bodyPr>
          <a:lstStyle/>
          <a:p>
            <a:pPr algn="l" marL="282773" indent="-141387" lvl="1">
              <a:lnSpc>
                <a:spcPts val="3000"/>
              </a:lnSpc>
              <a:buFont typeface="Arial"/>
              <a:buChar char="•"/>
            </a:pPr>
            <a:r>
              <a:rPr lang="en-US" sz="1874">
                <a:solidFill>
                  <a:srgbClr val="383838"/>
                </a:solidFill>
                <a:latin typeface="DM Sans"/>
                <a:ea typeface="DM Sans"/>
                <a:cs typeface="DM Sans"/>
                <a:sym typeface="DM Sans"/>
              </a:rPr>
              <a:t>Handles user interactions and presents data.</a:t>
            </a:r>
          </a:p>
        </p:txBody>
      </p:sp>
      <p:sp>
        <p:nvSpPr>
          <p:cNvPr name="TextBox 15" id="15"/>
          <p:cNvSpPr txBox="true"/>
          <p:nvPr/>
        </p:nvSpPr>
        <p:spPr>
          <a:xfrm rot="0">
            <a:off x="1102071" y="4494009"/>
            <a:ext cx="7655423" cy="457791"/>
          </a:xfrm>
          <a:prstGeom prst="rect">
            <a:avLst/>
          </a:prstGeom>
        </p:spPr>
        <p:txBody>
          <a:bodyPr anchor="t" rtlCol="false" tIns="0" lIns="0" bIns="0" rIns="0">
            <a:spAutoFit/>
          </a:bodyPr>
          <a:lstStyle/>
          <a:p>
            <a:pPr algn="l" marL="282773" indent="-141387" lvl="1">
              <a:lnSpc>
                <a:spcPts val="3000"/>
              </a:lnSpc>
              <a:buFont typeface="Arial"/>
              <a:buChar char="•"/>
            </a:pPr>
            <a:r>
              <a:rPr lang="en-US" sz="1874">
                <a:solidFill>
                  <a:srgbClr val="383838"/>
                </a:solidFill>
                <a:latin typeface="DM Sans"/>
                <a:ea typeface="DM Sans"/>
                <a:cs typeface="DM Sans"/>
                <a:sym typeface="DM Sans"/>
              </a:rPr>
              <a:t>Communicates with the backend exclusively via the API Gateway.</a:t>
            </a:r>
          </a:p>
        </p:txBody>
      </p:sp>
      <p:grpSp>
        <p:nvGrpSpPr>
          <p:cNvPr name="Group 16" id="16"/>
          <p:cNvGrpSpPr/>
          <p:nvPr/>
        </p:nvGrpSpPr>
        <p:grpSpPr>
          <a:xfrm rot="0">
            <a:off x="9248927" y="2227812"/>
            <a:ext cx="8218437" cy="3112741"/>
            <a:chOff x="0" y="0"/>
            <a:chExt cx="10957916" cy="4150322"/>
          </a:xfrm>
        </p:grpSpPr>
        <p:sp>
          <p:nvSpPr>
            <p:cNvPr name="Freeform 17" id="17"/>
            <p:cNvSpPr/>
            <p:nvPr/>
          </p:nvSpPr>
          <p:spPr>
            <a:xfrm flipH="false" flipV="false" rot="0">
              <a:off x="19050" y="19050"/>
              <a:ext cx="10919841" cy="4112260"/>
            </a:xfrm>
            <a:custGeom>
              <a:avLst/>
              <a:gdLst/>
              <a:ahLst/>
              <a:cxnLst/>
              <a:rect r="r" b="b" t="t" l="l"/>
              <a:pathLst>
                <a:path h="4112260" w="10919841">
                  <a:moveTo>
                    <a:pt x="0" y="47752"/>
                  </a:moveTo>
                  <a:cubicBezTo>
                    <a:pt x="0" y="21336"/>
                    <a:pt x="21463" y="0"/>
                    <a:pt x="48006" y="0"/>
                  </a:cubicBezTo>
                  <a:lnTo>
                    <a:pt x="10871835" y="0"/>
                  </a:lnTo>
                  <a:cubicBezTo>
                    <a:pt x="10898378" y="0"/>
                    <a:pt x="10919841" y="21336"/>
                    <a:pt x="10919841" y="47752"/>
                  </a:cubicBezTo>
                  <a:lnTo>
                    <a:pt x="10919841" y="4064508"/>
                  </a:lnTo>
                  <a:cubicBezTo>
                    <a:pt x="10919841" y="4090797"/>
                    <a:pt x="10898378" y="4112260"/>
                    <a:pt x="10871835" y="4112260"/>
                  </a:cubicBezTo>
                  <a:lnTo>
                    <a:pt x="48006" y="4112260"/>
                  </a:lnTo>
                  <a:cubicBezTo>
                    <a:pt x="21463" y="4112260"/>
                    <a:pt x="0" y="4090924"/>
                    <a:pt x="0" y="4064508"/>
                  </a:cubicBezTo>
                  <a:close/>
                </a:path>
              </a:pathLst>
            </a:custGeom>
            <a:solidFill>
              <a:srgbClr val="FFFFFF"/>
            </a:solidFill>
            <a:ln w="12700">
              <a:solidFill>
                <a:srgbClr val="000000"/>
              </a:solidFill>
            </a:ln>
          </p:spPr>
        </p:sp>
        <p:sp>
          <p:nvSpPr>
            <p:cNvPr name="Freeform 18" id="18"/>
            <p:cNvSpPr/>
            <p:nvPr/>
          </p:nvSpPr>
          <p:spPr>
            <a:xfrm flipH="false" flipV="false" rot="0">
              <a:off x="0" y="0"/>
              <a:ext cx="10957941" cy="4150360"/>
            </a:xfrm>
            <a:custGeom>
              <a:avLst/>
              <a:gdLst/>
              <a:ahLst/>
              <a:cxnLst/>
              <a:rect r="r" b="b" t="t" l="l"/>
              <a:pathLst>
                <a:path h="4150360" w="10957941">
                  <a:moveTo>
                    <a:pt x="0" y="66802"/>
                  </a:moveTo>
                  <a:cubicBezTo>
                    <a:pt x="0" y="29845"/>
                    <a:pt x="30099" y="0"/>
                    <a:pt x="67056" y="0"/>
                  </a:cubicBezTo>
                  <a:lnTo>
                    <a:pt x="10890885" y="0"/>
                  </a:lnTo>
                  <a:lnTo>
                    <a:pt x="10890885" y="19050"/>
                  </a:lnTo>
                  <a:lnTo>
                    <a:pt x="10890885" y="0"/>
                  </a:lnTo>
                  <a:cubicBezTo>
                    <a:pt x="10927842" y="0"/>
                    <a:pt x="10957941" y="29845"/>
                    <a:pt x="10957941" y="66802"/>
                  </a:cubicBezTo>
                  <a:lnTo>
                    <a:pt x="10938891" y="66802"/>
                  </a:lnTo>
                  <a:lnTo>
                    <a:pt x="10957941" y="66802"/>
                  </a:lnTo>
                  <a:lnTo>
                    <a:pt x="10957941" y="4083558"/>
                  </a:lnTo>
                  <a:lnTo>
                    <a:pt x="10938891" y="4083558"/>
                  </a:lnTo>
                  <a:lnTo>
                    <a:pt x="10957941" y="4083558"/>
                  </a:lnTo>
                  <a:cubicBezTo>
                    <a:pt x="10957941" y="4120515"/>
                    <a:pt x="10927842" y="4150360"/>
                    <a:pt x="10890885" y="4150360"/>
                  </a:cubicBezTo>
                  <a:lnTo>
                    <a:pt x="10890885" y="4131310"/>
                  </a:lnTo>
                  <a:lnTo>
                    <a:pt x="10890885" y="4150360"/>
                  </a:lnTo>
                  <a:lnTo>
                    <a:pt x="67056" y="4150360"/>
                  </a:lnTo>
                  <a:lnTo>
                    <a:pt x="67056" y="4131310"/>
                  </a:lnTo>
                  <a:lnTo>
                    <a:pt x="67056" y="4150360"/>
                  </a:lnTo>
                  <a:cubicBezTo>
                    <a:pt x="30099" y="4150360"/>
                    <a:pt x="0" y="4120515"/>
                    <a:pt x="0" y="4083558"/>
                  </a:cubicBezTo>
                  <a:lnTo>
                    <a:pt x="0" y="66802"/>
                  </a:lnTo>
                  <a:lnTo>
                    <a:pt x="19050" y="66802"/>
                  </a:lnTo>
                  <a:lnTo>
                    <a:pt x="0" y="66802"/>
                  </a:lnTo>
                  <a:moveTo>
                    <a:pt x="38100" y="66802"/>
                  </a:moveTo>
                  <a:lnTo>
                    <a:pt x="38100" y="4083558"/>
                  </a:lnTo>
                  <a:lnTo>
                    <a:pt x="19050" y="4083558"/>
                  </a:lnTo>
                  <a:lnTo>
                    <a:pt x="38100" y="4083558"/>
                  </a:lnTo>
                  <a:cubicBezTo>
                    <a:pt x="38100" y="4099306"/>
                    <a:pt x="50927" y="4112260"/>
                    <a:pt x="67056" y="4112260"/>
                  </a:cubicBezTo>
                  <a:lnTo>
                    <a:pt x="10890885" y="4112260"/>
                  </a:lnTo>
                  <a:cubicBezTo>
                    <a:pt x="10907014" y="4112260"/>
                    <a:pt x="10919841" y="4099306"/>
                    <a:pt x="10919841" y="4083558"/>
                  </a:cubicBezTo>
                  <a:lnTo>
                    <a:pt x="10919841" y="66802"/>
                  </a:lnTo>
                  <a:cubicBezTo>
                    <a:pt x="10919841" y="51054"/>
                    <a:pt x="10907014" y="38100"/>
                    <a:pt x="10890885" y="38100"/>
                  </a:cubicBezTo>
                  <a:lnTo>
                    <a:pt x="67056" y="38100"/>
                  </a:lnTo>
                  <a:lnTo>
                    <a:pt x="67056" y="19050"/>
                  </a:lnTo>
                  <a:lnTo>
                    <a:pt x="67056" y="38100"/>
                  </a:lnTo>
                  <a:cubicBezTo>
                    <a:pt x="50927" y="38100"/>
                    <a:pt x="38100" y="51054"/>
                    <a:pt x="38100" y="66802"/>
                  </a:cubicBezTo>
                  <a:close/>
                </a:path>
              </a:pathLst>
            </a:custGeom>
            <a:solidFill>
              <a:srgbClr val="D8D4D4"/>
            </a:solidFill>
            <a:ln w="12700">
              <a:solidFill>
                <a:srgbClr val="000000"/>
              </a:solidFill>
            </a:ln>
          </p:spPr>
        </p:sp>
      </p:grpSp>
      <p:grpSp>
        <p:nvGrpSpPr>
          <p:cNvPr name="Group 19" id="19"/>
          <p:cNvGrpSpPr/>
          <p:nvPr/>
        </p:nvGrpSpPr>
        <p:grpSpPr>
          <a:xfrm rot="0">
            <a:off x="9291790" y="2270674"/>
            <a:ext cx="8132712" cy="238573"/>
            <a:chOff x="0" y="0"/>
            <a:chExt cx="10843616" cy="318097"/>
          </a:xfrm>
        </p:grpSpPr>
        <p:sp>
          <p:nvSpPr>
            <p:cNvPr name="Freeform 20" id="20"/>
            <p:cNvSpPr/>
            <p:nvPr/>
          </p:nvSpPr>
          <p:spPr>
            <a:xfrm flipH="false" flipV="false" rot="0">
              <a:off x="0" y="0"/>
              <a:ext cx="10843640" cy="318135"/>
            </a:xfrm>
            <a:custGeom>
              <a:avLst/>
              <a:gdLst/>
              <a:ahLst/>
              <a:cxnLst/>
              <a:rect r="r" b="b" t="t" l="l"/>
              <a:pathLst>
                <a:path h="318135" w="10843640">
                  <a:moveTo>
                    <a:pt x="0" y="2032"/>
                  </a:moveTo>
                  <a:cubicBezTo>
                    <a:pt x="0" y="889"/>
                    <a:pt x="889" y="0"/>
                    <a:pt x="2032" y="0"/>
                  </a:cubicBezTo>
                  <a:lnTo>
                    <a:pt x="10841609" y="0"/>
                  </a:lnTo>
                  <a:cubicBezTo>
                    <a:pt x="10842752" y="0"/>
                    <a:pt x="10843640" y="889"/>
                    <a:pt x="10843640" y="2032"/>
                  </a:cubicBezTo>
                  <a:lnTo>
                    <a:pt x="10843640" y="316103"/>
                  </a:lnTo>
                  <a:cubicBezTo>
                    <a:pt x="10843640" y="317246"/>
                    <a:pt x="10842752" y="318135"/>
                    <a:pt x="10841609" y="318135"/>
                  </a:cubicBezTo>
                  <a:lnTo>
                    <a:pt x="2032" y="318135"/>
                  </a:lnTo>
                  <a:cubicBezTo>
                    <a:pt x="889" y="318135"/>
                    <a:pt x="0" y="317246"/>
                    <a:pt x="0" y="316103"/>
                  </a:cubicBezTo>
                  <a:close/>
                </a:path>
              </a:pathLst>
            </a:custGeom>
            <a:solidFill>
              <a:srgbClr val="F2EEEE"/>
            </a:solidFill>
            <a:ln w="12700">
              <a:solidFill>
                <a:srgbClr val="000000"/>
              </a:solidFill>
            </a:ln>
          </p:spPr>
        </p:sp>
      </p:grpSp>
      <p:sp>
        <p:nvSpPr>
          <p:cNvPr name="TextBox 21" id="21"/>
          <p:cNvSpPr txBox="true"/>
          <p:nvPr/>
        </p:nvSpPr>
        <p:spPr>
          <a:xfrm rot="0">
            <a:off x="9530353" y="2728760"/>
            <a:ext cx="1882825" cy="382588"/>
          </a:xfrm>
          <a:prstGeom prst="rect">
            <a:avLst/>
          </a:prstGeom>
        </p:spPr>
        <p:txBody>
          <a:bodyPr anchor="t" rtlCol="false" tIns="0" lIns="0" bIns="0" rIns="0">
            <a:spAutoFit/>
          </a:bodyPr>
          <a:lstStyle/>
          <a:p>
            <a:pPr algn="l">
              <a:lnSpc>
                <a:spcPts val="3062"/>
              </a:lnSpc>
            </a:pPr>
            <a:r>
              <a:rPr lang="en-US" sz="2437" b="true">
                <a:solidFill>
                  <a:srgbClr val="383838"/>
                </a:solidFill>
                <a:latin typeface="PT Serif Bold"/>
                <a:ea typeface="PT Serif Bold"/>
                <a:cs typeface="PT Serif Bold"/>
                <a:sym typeface="PT Serif Bold"/>
              </a:rPr>
              <a:t>API Gateway</a:t>
            </a:r>
          </a:p>
        </p:txBody>
      </p:sp>
      <p:sp>
        <p:nvSpPr>
          <p:cNvPr name="TextBox 22" id="22"/>
          <p:cNvSpPr txBox="true"/>
          <p:nvPr/>
        </p:nvSpPr>
        <p:spPr>
          <a:xfrm rot="0">
            <a:off x="9530353" y="3206058"/>
            <a:ext cx="7655566" cy="457791"/>
          </a:xfrm>
          <a:prstGeom prst="rect">
            <a:avLst/>
          </a:prstGeom>
        </p:spPr>
        <p:txBody>
          <a:bodyPr anchor="t" rtlCol="false" tIns="0" lIns="0" bIns="0" rIns="0">
            <a:spAutoFit/>
          </a:bodyPr>
          <a:lstStyle/>
          <a:p>
            <a:pPr algn="l" marL="282773" indent="-141387" lvl="1">
              <a:lnSpc>
                <a:spcPts val="3000"/>
              </a:lnSpc>
              <a:buFont typeface="Arial"/>
              <a:buChar char="•"/>
            </a:pPr>
            <a:r>
              <a:rPr lang="en-US" sz="1874">
                <a:solidFill>
                  <a:srgbClr val="383838"/>
                </a:solidFill>
                <a:latin typeface="DM Sans"/>
                <a:ea typeface="DM Sans"/>
                <a:cs typeface="DM Sans"/>
                <a:sym typeface="DM Sans"/>
              </a:rPr>
              <a:t>Single entry point for all client requests.</a:t>
            </a:r>
          </a:p>
        </p:txBody>
      </p:sp>
      <p:sp>
        <p:nvSpPr>
          <p:cNvPr name="TextBox 23" id="23"/>
          <p:cNvSpPr txBox="true"/>
          <p:nvPr/>
        </p:nvSpPr>
        <p:spPr>
          <a:xfrm rot="0">
            <a:off x="9530353" y="3671145"/>
            <a:ext cx="7655566" cy="457791"/>
          </a:xfrm>
          <a:prstGeom prst="rect">
            <a:avLst/>
          </a:prstGeom>
        </p:spPr>
        <p:txBody>
          <a:bodyPr anchor="t" rtlCol="false" tIns="0" lIns="0" bIns="0" rIns="0">
            <a:spAutoFit/>
          </a:bodyPr>
          <a:lstStyle/>
          <a:p>
            <a:pPr algn="l" marL="282773" indent="-141387" lvl="1">
              <a:lnSpc>
                <a:spcPts val="3000"/>
              </a:lnSpc>
              <a:buFont typeface="Arial"/>
              <a:buChar char="•"/>
            </a:pPr>
            <a:r>
              <a:rPr lang="en-US" sz="1874">
                <a:solidFill>
                  <a:srgbClr val="383838"/>
                </a:solidFill>
                <a:latin typeface="DM Sans"/>
                <a:ea typeface="DM Sans"/>
                <a:cs typeface="DM Sans"/>
                <a:sym typeface="DM Sans"/>
              </a:rPr>
              <a:t>Routes requests to appropriate services.</a:t>
            </a:r>
          </a:p>
        </p:txBody>
      </p:sp>
      <p:sp>
        <p:nvSpPr>
          <p:cNvPr name="TextBox 24" id="24"/>
          <p:cNvSpPr txBox="true"/>
          <p:nvPr/>
        </p:nvSpPr>
        <p:spPr>
          <a:xfrm rot="0">
            <a:off x="9530353" y="4136231"/>
            <a:ext cx="7655566" cy="457791"/>
          </a:xfrm>
          <a:prstGeom prst="rect">
            <a:avLst/>
          </a:prstGeom>
        </p:spPr>
        <p:txBody>
          <a:bodyPr anchor="t" rtlCol="false" tIns="0" lIns="0" bIns="0" rIns="0">
            <a:spAutoFit/>
          </a:bodyPr>
          <a:lstStyle/>
          <a:p>
            <a:pPr algn="l" marL="282773" indent="-141387" lvl="1">
              <a:lnSpc>
                <a:spcPts val="3000"/>
              </a:lnSpc>
              <a:buFont typeface="Arial"/>
              <a:buChar char="•"/>
            </a:pPr>
            <a:r>
              <a:rPr lang="en-US" sz="1874">
                <a:solidFill>
                  <a:srgbClr val="383838"/>
                </a:solidFill>
                <a:latin typeface="DM Sans"/>
                <a:ea typeface="DM Sans"/>
                <a:cs typeface="DM Sans"/>
                <a:sym typeface="DM Sans"/>
              </a:rPr>
              <a:t>Enforces authentication and role-based access control (RBAC).</a:t>
            </a:r>
          </a:p>
        </p:txBody>
      </p:sp>
      <p:sp>
        <p:nvSpPr>
          <p:cNvPr name="TextBox 25" id="25"/>
          <p:cNvSpPr txBox="true"/>
          <p:nvPr/>
        </p:nvSpPr>
        <p:spPr>
          <a:xfrm rot="0">
            <a:off x="9530353" y="4601318"/>
            <a:ext cx="7655566" cy="457791"/>
          </a:xfrm>
          <a:prstGeom prst="rect">
            <a:avLst/>
          </a:prstGeom>
        </p:spPr>
        <p:txBody>
          <a:bodyPr anchor="t" rtlCol="false" tIns="0" lIns="0" bIns="0" rIns="0">
            <a:spAutoFit/>
          </a:bodyPr>
          <a:lstStyle/>
          <a:p>
            <a:pPr algn="l" marL="282773" indent="-141387" lvl="1">
              <a:lnSpc>
                <a:spcPts val="3000"/>
              </a:lnSpc>
              <a:buFont typeface="Arial"/>
              <a:buChar char="•"/>
            </a:pPr>
            <a:r>
              <a:rPr lang="en-US" sz="1874">
                <a:solidFill>
                  <a:srgbClr val="383838"/>
                </a:solidFill>
                <a:latin typeface="DM Sans"/>
                <a:ea typeface="DM Sans"/>
                <a:cs typeface="DM Sans"/>
                <a:sym typeface="DM Sans"/>
              </a:rPr>
              <a:t>Shields internal services from direct client exposure.</a:t>
            </a:r>
          </a:p>
        </p:txBody>
      </p:sp>
      <p:grpSp>
        <p:nvGrpSpPr>
          <p:cNvPr name="Group 26" id="26"/>
          <p:cNvGrpSpPr/>
          <p:nvPr/>
        </p:nvGrpSpPr>
        <p:grpSpPr>
          <a:xfrm rot="0">
            <a:off x="820636" y="5908329"/>
            <a:ext cx="8218284" cy="3410845"/>
            <a:chOff x="0" y="0"/>
            <a:chExt cx="10957712" cy="4547794"/>
          </a:xfrm>
        </p:grpSpPr>
        <p:sp>
          <p:nvSpPr>
            <p:cNvPr name="Freeform 27" id="27"/>
            <p:cNvSpPr/>
            <p:nvPr/>
          </p:nvSpPr>
          <p:spPr>
            <a:xfrm flipH="false" flipV="false" rot="0">
              <a:off x="19050" y="19050"/>
              <a:ext cx="10919714" cy="4509770"/>
            </a:xfrm>
            <a:custGeom>
              <a:avLst/>
              <a:gdLst/>
              <a:ahLst/>
              <a:cxnLst/>
              <a:rect r="r" b="b" t="t" l="l"/>
              <a:pathLst>
                <a:path h="4509770" w="10919714">
                  <a:moveTo>
                    <a:pt x="0" y="47752"/>
                  </a:moveTo>
                  <a:cubicBezTo>
                    <a:pt x="0" y="21336"/>
                    <a:pt x="21463" y="0"/>
                    <a:pt x="48006" y="0"/>
                  </a:cubicBezTo>
                  <a:lnTo>
                    <a:pt x="10871708" y="0"/>
                  </a:lnTo>
                  <a:cubicBezTo>
                    <a:pt x="10898251" y="0"/>
                    <a:pt x="10919714" y="21336"/>
                    <a:pt x="10919714" y="47752"/>
                  </a:cubicBezTo>
                  <a:lnTo>
                    <a:pt x="10919714" y="4462018"/>
                  </a:lnTo>
                  <a:cubicBezTo>
                    <a:pt x="10919714" y="4488307"/>
                    <a:pt x="10898251" y="4509770"/>
                    <a:pt x="10871708" y="4509770"/>
                  </a:cubicBezTo>
                  <a:lnTo>
                    <a:pt x="48006" y="4509770"/>
                  </a:lnTo>
                  <a:cubicBezTo>
                    <a:pt x="21463" y="4509770"/>
                    <a:pt x="0" y="4488434"/>
                    <a:pt x="0" y="4462018"/>
                  </a:cubicBezTo>
                  <a:close/>
                </a:path>
              </a:pathLst>
            </a:custGeom>
            <a:solidFill>
              <a:srgbClr val="FFFFFF"/>
            </a:solidFill>
            <a:ln w="12700">
              <a:solidFill>
                <a:srgbClr val="000000"/>
              </a:solidFill>
            </a:ln>
          </p:spPr>
        </p:sp>
        <p:sp>
          <p:nvSpPr>
            <p:cNvPr name="Freeform 28" id="28"/>
            <p:cNvSpPr/>
            <p:nvPr/>
          </p:nvSpPr>
          <p:spPr>
            <a:xfrm flipH="false" flipV="false" rot="0">
              <a:off x="0" y="0"/>
              <a:ext cx="10957814" cy="4547870"/>
            </a:xfrm>
            <a:custGeom>
              <a:avLst/>
              <a:gdLst/>
              <a:ahLst/>
              <a:cxnLst/>
              <a:rect r="r" b="b" t="t" l="l"/>
              <a:pathLst>
                <a:path h="4547870" w="10957814">
                  <a:moveTo>
                    <a:pt x="0" y="66802"/>
                  </a:moveTo>
                  <a:cubicBezTo>
                    <a:pt x="0" y="29845"/>
                    <a:pt x="30099" y="0"/>
                    <a:pt x="67056" y="0"/>
                  </a:cubicBezTo>
                  <a:lnTo>
                    <a:pt x="10890758" y="0"/>
                  </a:lnTo>
                  <a:lnTo>
                    <a:pt x="10890758" y="19050"/>
                  </a:lnTo>
                  <a:lnTo>
                    <a:pt x="10890758" y="0"/>
                  </a:lnTo>
                  <a:cubicBezTo>
                    <a:pt x="10927714" y="0"/>
                    <a:pt x="10957814" y="29845"/>
                    <a:pt x="10957814" y="66802"/>
                  </a:cubicBezTo>
                  <a:lnTo>
                    <a:pt x="10938764" y="66802"/>
                  </a:lnTo>
                  <a:lnTo>
                    <a:pt x="10957814" y="66802"/>
                  </a:lnTo>
                  <a:lnTo>
                    <a:pt x="10957814" y="4481068"/>
                  </a:lnTo>
                  <a:lnTo>
                    <a:pt x="10938764" y="4481068"/>
                  </a:lnTo>
                  <a:lnTo>
                    <a:pt x="10957814" y="4481068"/>
                  </a:lnTo>
                  <a:cubicBezTo>
                    <a:pt x="10957814" y="4518025"/>
                    <a:pt x="10927714" y="4547870"/>
                    <a:pt x="10890758" y="4547870"/>
                  </a:cubicBezTo>
                  <a:lnTo>
                    <a:pt x="10890758" y="4528820"/>
                  </a:lnTo>
                  <a:lnTo>
                    <a:pt x="10890758" y="4547870"/>
                  </a:lnTo>
                  <a:lnTo>
                    <a:pt x="67056" y="4547870"/>
                  </a:lnTo>
                  <a:lnTo>
                    <a:pt x="67056" y="4528820"/>
                  </a:lnTo>
                  <a:lnTo>
                    <a:pt x="67056" y="4547870"/>
                  </a:lnTo>
                  <a:cubicBezTo>
                    <a:pt x="30099" y="4547870"/>
                    <a:pt x="0" y="4518025"/>
                    <a:pt x="0" y="4481068"/>
                  </a:cubicBezTo>
                  <a:lnTo>
                    <a:pt x="0" y="66802"/>
                  </a:lnTo>
                  <a:lnTo>
                    <a:pt x="19050" y="66802"/>
                  </a:lnTo>
                  <a:lnTo>
                    <a:pt x="0" y="66802"/>
                  </a:lnTo>
                  <a:moveTo>
                    <a:pt x="38100" y="66802"/>
                  </a:moveTo>
                  <a:lnTo>
                    <a:pt x="38100" y="4481068"/>
                  </a:lnTo>
                  <a:lnTo>
                    <a:pt x="19050" y="4481068"/>
                  </a:lnTo>
                  <a:lnTo>
                    <a:pt x="38100" y="4481068"/>
                  </a:lnTo>
                  <a:cubicBezTo>
                    <a:pt x="38100" y="4496816"/>
                    <a:pt x="50927" y="4509770"/>
                    <a:pt x="67056" y="4509770"/>
                  </a:cubicBezTo>
                  <a:lnTo>
                    <a:pt x="10890758" y="4509770"/>
                  </a:lnTo>
                  <a:cubicBezTo>
                    <a:pt x="10906760" y="4509770"/>
                    <a:pt x="10919714" y="4496816"/>
                    <a:pt x="10919714" y="4481068"/>
                  </a:cubicBezTo>
                  <a:lnTo>
                    <a:pt x="10919714" y="66802"/>
                  </a:lnTo>
                  <a:cubicBezTo>
                    <a:pt x="10919714" y="51054"/>
                    <a:pt x="10906887" y="38100"/>
                    <a:pt x="10890758" y="38100"/>
                  </a:cubicBezTo>
                  <a:lnTo>
                    <a:pt x="67056" y="38100"/>
                  </a:lnTo>
                  <a:lnTo>
                    <a:pt x="67056" y="19050"/>
                  </a:lnTo>
                  <a:lnTo>
                    <a:pt x="67056" y="38100"/>
                  </a:lnTo>
                  <a:cubicBezTo>
                    <a:pt x="50927" y="38100"/>
                    <a:pt x="38100" y="51054"/>
                    <a:pt x="38100" y="66802"/>
                  </a:cubicBezTo>
                  <a:close/>
                </a:path>
              </a:pathLst>
            </a:custGeom>
            <a:solidFill>
              <a:srgbClr val="D8D4D4"/>
            </a:solidFill>
            <a:ln w="12700">
              <a:solidFill>
                <a:srgbClr val="000000"/>
              </a:solidFill>
            </a:ln>
          </p:spPr>
        </p:sp>
      </p:grpSp>
      <p:grpSp>
        <p:nvGrpSpPr>
          <p:cNvPr name="Group 29" id="29"/>
          <p:cNvGrpSpPr/>
          <p:nvPr/>
        </p:nvGrpSpPr>
        <p:grpSpPr>
          <a:xfrm rot="0">
            <a:off x="863498" y="5951191"/>
            <a:ext cx="8132559" cy="238573"/>
            <a:chOff x="0" y="0"/>
            <a:chExt cx="10843412" cy="318097"/>
          </a:xfrm>
        </p:grpSpPr>
        <p:sp>
          <p:nvSpPr>
            <p:cNvPr name="Freeform 30" id="30"/>
            <p:cNvSpPr/>
            <p:nvPr/>
          </p:nvSpPr>
          <p:spPr>
            <a:xfrm flipH="false" flipV="false" rot="0">
              <a:off x="0" y="0"/>
              <a:ext cx="10843514" cy="318135"/>
            </a:xfrm>
            <a:custGeom>
              <a:avLst/>
              <a:gdLst/>
              <a:ahLst/>
              <a:cxnLst/>
              <a:rect r="r" b="b" t="t" l="l"/>
              <a:pathLst>
                <a:path h="318135" w="10843514">
                  <a:moveTo>
                    <a:pt x="0" y="2032"/>
                  </a:moveTo>
                  <a:cubicBezTo>
                    <a:pt x="0" y="889"/>
                    <a:pt x="889" y="0"/>
                    <a:pt x="2032" y="0"/>
                  </a:cubicBezTo>
                  <a:lnTo>
                    <a:pt x="10841482" y="0"/>
                  </a:lnTo>
                  <a:cubicBezTo>
                    <a:pt x="10842625" y="0"/>
                    <a:pt x="10843514" y="889"/>
                    <a:pt x="10843514" y="2032"/>
                  </a:cubicBezTo>
                  <a:lnTo>
                    <a:pt x="10843514" y="316103"/>
                  </a:lnTo>
                  <a:cubicBezTo>
                    <a:pt x="10843514" y="317246"/>
                    <a:pt x="10842625" y="318135"/>
                    <a:pt x="10841482" y="318135"/>
                  </a:cubicBezTo>
                  <a:lnTo>
                    <a:pt x="2032" y="318135"/>
                  </a:lnTo>
                  <a:cubicBezTo>
                    <a:pt x="889" y="318135"/>
                    <a:pt x="0" y="317246"/>
                    <a:pt x="0" y="316103"/>
                  </a:cubicBezTo>
                  <a:close/>
                </a:path>
              </a:pathLst>
            </a:custGeom>
            <a:solidFill>
              <a:srgbClr val="F2EEEE"/>
            </a:solidFill>
            <a:ln w="12700">
              <a:solidFill>
                <a:srgbClr val="000000"/>
              </a:solidFill>
            </a:ln>
          </p:spPr>
        </p:sp>
      </p:grpSp>
      <p:sp>
        <p:nvSpPr>
          <p:cNvPr name="TextBox 31" id="31"/>
          <p:cNvSpPr txBox="true"/>
          <p:nvPr/>
        </p:nvSpPr>
        <p:spPr>
          <a:xfrm rot="0">
            <a:off x="1102071" y="6409287"/>
            <a:ext cx="1957685" cy="382588"/>
          </a:xfrm>
          <a:prstGeom prst="rect">
            <a:avLst/>
          </a:prstGeom>
        </p:spPr>
        <p:txBody>
          <a:bodyPr anchor="t" rtlCol="false" tIns="0" lIns="0" bIns="0" rIns="0">
            <a:spAutoFit/>
          </a:bodyPr>
          <a:lstStyle/>
          <a:p>
            <a:pPr algn="l">
              <a:lnSpc>
                <a:spcPts val="3062"/>
              </a:lnSpc>
            </a:pPr>
            <a:r>
              <a:rPr lang="en-US" sz="2437" b="true">
                <a:solidFill>
                  <a:srgbClr val="383838"/>
                </a:solidFill>
                <a:latin typeface="PT Serif Bold"/>
                <a:ea typeface="PT Serif Bold"/>
                <a:cs typeface="PT Serif Bold"/>
                <a:sym typeface="PT Serif Bold"/>
              </a:rPr>
              <a:t>Service Layer</a:t>
            </a:r>
          </a:p>
        </p:txBody>
      </p:sp>
      <p:sp>
        <p:nvSpPr>
          <p:cNvPr name="TextBox 32" id="32"/>
          <p:cNvSpPr txBox="true"/>
          <p:nvPr/>
        </p:nvSpPr>
        <p:spPr>
          <a:xfrm rot="0">
            <a:off x="1102071" y="6886575"/>
            <a:ext cx="7655423" cy="839391"/>
          </a:xfrm>
          <a:prstGeom prst="rect">
            <a:avLst/>
          </a:prstGeom>
        </p:spPr>
        <p:txBody>
          <a:bodyPr anchor="t" rtlCol="false" tIns="0" lIns="0" bIns="0" rIns="0">
            <a:spAutoFit/>
          </a:bodyPr>
          <a:lstStyle/>
          <a:p>
            <a:pPr algn="l" marL="282773" indent="-141387" lvl="1">
              <a:lnSpc>
                <a:spcPts val="3000"/>
              </a:lnSpc>
              <a:buFont typeface="Arial"/>
              <a:buChar char="•"/>
            </a:pPr>
            <a:r>
              <a:rPr lang="en-US" sz="1874">
                <a:solidFill>
                  <a:srgbClr val="383838"/>
                </a:solidFill>
                <a:latin typeface="DM Sans"/>
                <a:ea typeface="DM Sans"/>
                <a:cs typeface="DM Sans"/>
                <a:sym typeface="DM Sans"/>
              </a:rPr>
              <a:t>Contains core business logic (Authentication, User Management, Chat, AI Mood Analysis, Appointment Management, Notification).</a:t>
            </a:r>
          </a:p>
        </p:txBody>
      </p:sp>
      <p:sp>
        <p:nvSpPr>
          <p:cNvPr name="TextBox 33" id="33"/>
          <p:cNvSpPr txBox="true"/>
          <p:nvPr/>
        </p:nvSpPr>
        <p:spPr>
          <a:xfrm rot="0">
            <a:off x="1102071" y="7733262"/>
            <a:ext cx="7655423" cy="839391"/>
          </a:xfrm>
          <a:prstGeom prst="rect">
            <a:avLst/>
          </a:prstGeom>
        </p:spPr>
        <p:txBody>
          <a:bodyPr anchor="t" rtlCol="false" tIns="0" lIns="0" bIns="0" rIns="0">
            <a:spAutoFit/>
          </a:bodyPr>
          <a:lstStyle/>
          <a:p>
            <a:pPr algn="l" marL="282773" indent="-141387" lvl="1">
              <a:lnSpc>
                <a:spcPts val="3000"/>
              </a:lnSpc>
              <a:buFont typeface="Arial"/>
              <a:buChar char="•"/>
            </a:pPr>
            <a:r>
              <a:rPr lang="en-US" sz="1874">
                <a:solidFill>
                  <a:srgbClr val="383838"/>
                </a:solidFill>
                <a:latin typeface="DM Sans"/>
                <a:ea typeface="DM Sans"/>
                <a:cs typeface="DM Sans"/>
                <a:sym typeface="DM Sans"/>
              </a:rPr>
              <a:t>Each service is modular and responsible for specific functionalities.</a:t>
            </a:r>
          </a:p>
        </p:txBody>
      </p:sp>
      <p:sp>
        <p:nvSpPr>
          <p:cNvPr name="TextBox 34" id="34"/>
          <p:cNvSpPr txBox="true"/>
          <p:nvPr/>
        </p:nvSpPr>
        <p:spPr>
          <a:xfrm rot="0">
            <a:off x="1102071" y="8579939"/>
            <a:ext cx="7655423" cy="457791"/>
          </a:xfrm>
          <a:prstGeom prst="rect">
            <a:avLst/>
          </a:prstGeom>
        </p:spPr>
        <p:txBody>
          <a:bodyPr anchor="t" rtlCol="false" tIns="0" lIns="0" bIns="0" rIns="0">
            <a:spAutoFit/>
          </a:bodyPr>
          <a:lstStyle/>
          <a:p>
            <a:pPr algn="l" marL="282773" indent="-141387" lvl="1">
              <a:lnSpc>
                <a:spcPts val="3000"/>
              </a:lnSpc>
              <a:buFont typeface="Arial"/>
              <a:buChar char="•"/>
            </a:pPr>
            <a:r>
              <a:rPr lang="en-US" sz="1874">
                <a:solidFill>
                  <a:srgbClr val="383838"/>
                </a:solidFill>
                <a:latin typeface="DM Sans"/>
                <a:ea typeface="DM Sans"/>
                <a:cs typeface="DM Sans"/>
                <a:sym typeface="DM Sans"/>
              </a:rPr>
              <a:t>Promotes independent development and deployment.</a:t>
            </a:r>
          </a:p>
        </p:txBody>
      </p:sp>
      <p:grpSp>
        <p:nvGrpSpPr>
          <p:cNvPr name="Group 35" id="35"/>
          <p:cNvGrpSpPr/>
          <p:nvPr/>
        </p:nvGrpSpPr>
        <p:grpSpPr>
          <a:xfrm rot="0">
            <a:off x="9248927" y="5550541"/>
            <a:ext cx="8218437" cy="3768623"/>
            <a:chOff x="0" y="0"/>
            <a:chExt cx="10957916" cy="5024831"/>
          </a:xfrm>
        </p:grpSpPr>
        <p:sp>
          <p:nvSpPr>
            <p:cNvPr name="Freeform 36" id="36"/>
            <p:cNvSpPr/>
            <p:nvPr/>
          </p:nvSpPr>
          <p:spPr>
            <a:xfrm flipH="false" flipV="false" rot="0">
              <a:off x="19050" y="19050"/>
              <a:ext cx="10919714" cy="4986782"/>
            </a:xfrm>
            <a:custGeom>
              <a:avLst/>
              <a:gdLst/>
              <a:ahLst/>
              <a:cxnLst/>
              <a:rect r="r" b="b" t="t" l="l"/>
              <a:pathLst>
                <a:path h="4986782" w="10919714">
                  <a:moveTo>
                    <a:pt x="0" y="47752"/>
                  </a:moveTo>
                  <a:cubicBezTo>
                    <a:pt x="0" y="21336"/>
                    <a:pt x="21463" y="0"/>
                    <a:pt x="47879" y="0"/>
                  </a:cubicBezTo>
                  <a:lnTo>
                    <a:pt x="10871835" y="0"/>
                  </a:lnTo>
                  <a:cubicBezTo>
                    <a:pt x="10898251" y="0"/>
                    <a:pt x="10919714" y="21336"/>
                    <a:pt x="10919714" y="47752"/>
                  </a:cubicBezTo>
                  <a:lnTo>
                    <a:pt x="10919714" y="4939030"/>
                  </a:lnTo>
                  <a:cubicBezTo>
                    <a:pt x="10919714" y="4965446"/>
                    <a:pt x="10898251" y="4986782"/>
                    <a:pt x="10871835" y="4986782"/>
                  </a:cubicBezTo>
                  <a:lnTo>
                    <a:pt x="47879" y="4986782"/>
                  </a:lnTo>
                  <a:cubicBezTo>
                    <a:pt x="21463" y="4986782"/>
                    <a:pt x="0" y="4965446"/>
                    <a:pt x="0" y="4939030"/>
                  </a:cubicBezTo>
                  <a:close/>
                </a:path>
              </a:pathLst>
            </a:custGeom>
            <a:solidFill>
              <a:srgbClr val="FFFFFF"/>
            </a:solidFill>
            <a:ln w="12700">
              <a:solidFill>
                <a:srgbClr val="000000"/>
              </a:solidFill>
            </a:ln>
          </p:spPr>
        </p:sp>
        <p:sp>
          <p:nvSpPr>
            <p:cNvPr name="Freeform 37" id="37"/>
            <p:cNvSpPr/>
            <p:nvPr/>
          </p:nvSpPr>
          <p:spPr>
            <a:xfrm flipH="false" flipV="false" rot="0">
              <a:off x="0" y="0"/>
              <a:ext cx="10957814" cy="5024882"/>
            </a:xfrm>
            <a:custGeom>
              <a:avLst/>
              <a:gdLst/>
              <a:ahLst/>
              <a:cxnLst/>
              <a:rect r="r" b="b" t="t" l="l"/>
              <a:pathLst>
                <a:path h="5024882" w="10957814">
                  <a:moveTo>
                    <a:pt x="0" y="66802"/>
                  </a:moveTo>
                  <a:cubicBezTo>
                    <a:pt x="0" y="29845"/>
                    <a:pt x="30099" y="0"/>
                    <a:pt x="66929" y="0"/>
                  </a:cubicBezTo>
                  <a:lnTo>
                    <a:pt x="10890885" y="0"/>
                  </a:lnTo>
                  <a:lnTo>
                    <a:pt x="10890885" y="19050"/>
                  </a:lnTo>
                  <a:lnTo>
                    <a:pt x="10890885" y="0"/>
                  </a:lnTo>
                  <a:cubicBezTo>
                    <a:pt x="10927842" y="0"/>
                    <a:pt x="10957814" y="29845"/>
                    <a:pt x="10957814" y="66802"/>
                  </a:cubicBezTo>
                  <a:lnTo>
                    <a:pt x="10938764" y="66802"/>
                  </a:lnTo>
                  <a:lnTo>
                    <a:pt x="10957814" y="66802"/>
                  </a:lnTo>
                  <a:lnTo>
                    <a:pt x="10957814" y="4958080"/>
                  </a:lnTo>
                  <a:lnTo>
                    <a:pt x="10938764" y="4958080"/>
                  </a:lnTo>
                  <a:lnTo>
                    <a:pt x="10957814" y="4958080"/>
                  </a:lnTo>
                  <a:cubicBezTo>
                    <a:pt x="10957814" y="4995037"/>
                    <a:pt x="10927715" y="5024882"/>
                    <a:pt x="10890885" y="5024882"/>
                  </a:cubicBezTo>
                  <a:lnTo>
                    <a:pt x="10890885" y="5005832"/>
                  </a:lnTo>
                  <a:lnTo>
                    <a:pt x="10890885" y="5024882"/>
                  </a:lnTo>
                  <a:lnTo>
                    <a:pt x="66929" y="5024882"/>
                  </a:lnTo>
                  <a:lnTo>
                    <a:pt x="66929" y="5005832"/>
                  </a:lnTo>
                  <a:lnTo>
                    <a:pt x="66929" y="5024882"/>
                  </a:lnTo>
                  <a:cubicBezTo>
                    <a:pt x="29972" y="5024882"/>
                    <a:pt x="0" y="4995037"/>
                    <a:pt x="0" y="4958080"/>
                  </a:cubicBezTo>
                  <a:lnTo>
                    <a:pt x="0" y="66802"/>
                  </a:lnTo>
                  <a:lnTo>
                    <a:pt x="19050" y="66802"/>
                  </a:lnTo>
                  <a:lnTo>
                    <a:pt x="0" y="66802"/>
                  </a:lnTo>
                  <a:moveTo>
                    <a:pt x="38100" y="66802"/>
                  </a:moveTo>
                  <a:lnTo>
                    <a:pt x="38100" y="4958080"/>
                  </a:lnTo>
                  <a:lnTo>
                    <a:pt x="19050" y="4958080"/>
                  </a:lnTo>
                  <a:lnTo>
                    <a:pt x="38100" y="4958080"/>
                  </a:lnTo>
                  <a:cubicBezTo>
                    <a:pt x="38100" y="4973828"/>
                    <a:pt x="50927" y="4986782"/>
                    <a:pt x="66929" y="4986782"/>
                  </a:cubicBezTo>
                  <a:lnTo>
                    <a:pt x="10890885" y="4986782"/>
                  </a:lnTo>
                  <a:cubicBezTo>
                    <a:pt x="10906887" y="4986782"/>
                    <a:pt x="10919714" y="4973828"/>
                    <a:pt x="10919714" y="4958080"/>
                  </a:cubicBezTo>
                  <a:lnTo>
                    <a:pt x="10919714" y="66802"/>
                  </a:lnTo>
                  <a:cubicBezTo>
                    <a:pt x="10919714" y="51054"/>
                    <a:pt x="10906887" y="38100"/>
                    <a:pt x="10890885" y="38100"/>
                  </a:cubicBezTo>
                  <a:lnTo>
                    <a:pt x="66929" y="38100"/>
                  </a:lnTo>
                  <a:lnTo>
                    <a:pt x="66929" y="19050"/>
                  </a:lnTo>
                  <a:lnTo>
                    <a:pt x="66929" y="38100"/>
                  </a:lnTo>
                  <a:cubicBezTo>
                    <a:pt x="50927" y="38100"/>
                    <a:pt x="38100" y="51054"/>
                    <a:pt x="38100" y="66802"/>
                  </a:cubicBezTo>
                  <a:close/>
                </a:path>
              </a:pathLst>
            </a:custGeom>
            <a:solidFill>
              <a:srgbClr val="D8D4D4"/>
            </a:solidFill>
            <a:ln w="12700">
              <a:solidFill>
                <a:srgbClr val="000000"/>
              </a:solidFill>
            </a:ln>
          </p:spPr>
        </p:sp>
      </p:grpSp>
      <p:grpSp>
        <p:nvGrpSpPr>
          <p:cNvPr name="Group 38" id="38"/>
          <p:cNvGrpSpPr/>
          <p:nvPr/>
        </p:nvGrpSpPr>
        <p:grpSpPr>
          <a:xfrm rot="0">
            <a:off x="9291790" y="5593404"/>
            <a:ext cx="8132712" cy="238573"/>
            <a:chOff x="0" y="0"/>
            <a:chExt cx="10843616" cy="318097"/>
          </a:xfrm>
        </p:grpSpPr>
        <p:sp>
          <p:nvSpPr>
            <p:cNvPr name="Freeform 39" id="39"/>
            <p:cNvSpPr/>
            <p:nvPr/>
          </p:nvSpPr>
          <p:spPr>
            <a:xfrm flipH="false" flipV="false" rot="0">
              <a:off x="0" y="0"/>
              <a:ext cx="10843640" cy="318135"/>
            </a:xfrm>
            <a:custGeom>
              <a:avLst/>
              <a:gdLst/>
              <a:ahLst/>
              <a:cxnLst/>
              <a:rect r="r" b="b" t="t" l="l"/>
              <a:pathLst>
                <a:path h="318135" w="10843640">
                  <a:moveTo>
                    <a:pt x="0" y="2032"/>
                  </a:moveTo>
                  <a:cubicBezTo>
                    <a:pt x="0" y="889"/>
                    <a:pt x="889" y="0"/>
                    <a:pt x="2032" y="0"/>
                  </a:cubicBezTo>
                  <a:lnTo>
                    <a:pt x="10841609" y="0"/>
                  </a:lnTo>
                  <a:cubicBezTo>
                    <a:pt x="10842752" y="0"/>
                    <a:pt x="10843640" y="889"/>
                    <a:pt x="10843640" y="2032"/>
                  </a:cubicBezTo>
                  <a:lnTo>
                    <a:pt x="10843640" y="316103"/>
                  </a:lnTo>
                  <a:cubicBezTo>
                    <a:pt x="10843640" y="317246"/>
                    <a:pt x="10842752" y="318135"/>
                    <a:pt x="10841609" y="318135"/>
                  </a:cubicBezTo>
                  <a:lnTo>
                    <a:pt x="2032" y="318135"/>
                  </a:lnTo>
                  <a:cubicBezTo>
                    <a:pt x="889" y="318135"/>
                    <a:pt x="0" y="317246"/>
                    <a:pt x="0" y="316103"/>
                  </a:cubicBezTo>
                  <a:close/>
                </a:path>
              </a:pathLst>
            </a:custGeom>
            <a:solidFill>
              <a:srgbClr val="F2EEEE"/>
            </a:solidFill>
            <a:ln w="12700">
              <a:solidFill>
                <a:srgbClr val="000000"/>
              </a:solidFill>
            </a:ln>
          </p:spPr>
        </p:sp>
      </p:grpSp>
      <p:sp>
        <p:nvSpPr>
          <p:cNvPr name="TextBox 40" id="40"/>
          <p:cNvSpPr txBox="true"/>
          <p:nvPr/>
        </p:nvSpPr>
        <p:spPr>
          <a:xfrm rot="0">
            <a:off x="9530353" y="6051499"/>
            <a:ext cx="1595884" cy="382588"/>
          </a:xfrm>
          <a:prstGeom prst="rect">
            <a:avLst/>
          </a:prstGeom>
        </p:spPr>
        <p:txBody>
          <a:bodyPr anchor="t" rtlCol="false" tIns="0" lIns="0" bIns="0" rIns="0">
            <a:spAutoFit/>
          </a:bodyPr>
          <a:lstStyle/>
          <a:p>
            <a:pPr algn="l">
              <a:lnSpc>
                <a:spcPts val="3062"/>
              </a:lnSpc>
            </a:pPr>
            <a:r>
              <a:rPr lang="en-US" sz="2437" b="true">
                <a:solidFill>
                  <a:srgbClr val="383838"/>
                </a:solidFill>
                <a:latin typeface="PT Serif Bold"/>
                <a:ea typeface="PT Serif Bold"/>
                <a:cs typeface="PT Serif Bold"/>
                <a:sym typeface="PT Serif Bold"/>
              </a:rPr>
              <a:t>Data Layer</a:t>
            </a:r>
          </a:p>
        </p:txBody>
      </p:sp>
      <p:sp>
        <p:nvSpPr>
          <p:cNvPr name="TextBox 41" id="41"/>
          <p:cNvSpPr txBox="true"/>
          <p:nvPr/>
        </p:nvSpPr>
        <p:spPr>
          <a:xfrm rot="0">
            <a:off x="9530353" y="6528797"/>
            <a:ext cx="7655566" cy="457791"/>
          </a:xfrm>
          <a:prstGeom prst="rect">
            <a:avLst/>
          </a:prstGeom>
        </p:spPr>
        <p:txBody>
          <a:bodyPr anchor="t" rtlCol="false" tIns="0" lIns="0" bIns="0" rIns="0">
            <a:spAutoFit/>
          </a:bodyPr>
          <a:lstStyle/>
          <a:p>
            <a:pPr algn="l" marL="282773" indent="-141387" lvl="1">
              <a:lnSpc>
                <a:spcPts val="3000"/>
              </a:lnSpc>
              <a:buFont typeface="Arial"/>
              <a:buChar char="•"/>
            </a:pPr>
            <a:r>
              <a:rPr lang="en-US" sz="1874">
                <a:solidFill>
                  <a:srgbClr val="383838"/>
                </a:solidFill>
                <a:latin typeface="DM Sans"/>
                <a:ea typeface="DM Sans"/>
                <a:cs typeface="DM Sans"/>
                <a:sym typeface="DM Sans"/>
              </a:rPr>
              <a:t>Central Database for persistent storage of all application data.</a:t>
            </a:r>
          </a:p>
        </p:txBody>
      </p:sp>
      <p:sp>
        <p:nvSpPr>
          <p:cNvPr name="TextBox 42" id="42"/>
          <p:cNvSpPr txBox="true"/>
          <p:nvPr/>
        </p:nvSpPr>
        <p:spPr>
          <a:xfrm rot="0">
            <a:off x="9530353" y="6993884"/>
            <a:ext cx="7655566" cy="839391"/>
          </a:xfrm>
          <a:prstGeom prst="rect">
            <a:avLst/>
          </a:prstGeom>
        </p:spPr>
        <p:txBody>
          <a:bodyPr anchor="t" rtlCol="false" tIns="0" lIns="0" bIns="0" rIns="0">
            <a:spAutoFit/>
          </a:bodyPr>
          <a:lstStyle/>
          <a:p>
            <a:pPr algn="l" marL="282773" indent="-141387" lvl="1">
              <a:lnSpc>
                <a:spcPts val="3000"/>
              </a:lnSpc>
              <a:buFont typeface="Arial"/>
              <a:buChar char="•"/>
            </a:pPr>
            <a:r>
              <a:rPr lang="en-US" sz="1874">
                <a:solidFill>
                  <a:srgbClr val="383838"/>
                </a:solidFill>
                <a:latin typeface="DM Sans"/>
                <a:ea typeface="DM Sans"/>
                <a:cs typeface="DM Sans"/>
                <a:sym typeface="DM Sans"/>
              </a:rPr>
              <a:t>Ensures data integrity, consistency, and secure storage of sensitive mental health records.</a:t>
            </a:r>
          </a:p>
        </p:txBody>
      </p:sp>
      <p:sp>
        <p:nvSpPr>
          <p:cNvPr name="TextBox 43" id="43"/>
          <p:cNvSpPr txBox="true"/>
          <p:nvPr/>
        </p:nvSpPr>
        <p:spPr>
          <a:xfrm rot="0">
            <a:off x="9530353" y="7840561"/>
            <a:ext cx="7655566" cy="457791"/>
          </a:xfrm>
          <a:prstGeom prst="rect">
            <a:avLst/>
          </a:prstGeom>
        </p:spPr>
        <p:txBody>
          <a:bodyPr anchor="t" rtlCol="false" tIns="0" lIns="0" bIns="0" rIns="0">
            <a:spAutoFit/>
          </a:bodyPr>
          <a:lstStyle/>
          <a:p>
            <a:pPr algn="l" marL="282773" indent="-141387" lvl="1">
              <a:lnSpc>
                <a:spcPts val="3000"/>
              </a:lnSpc>
              <a:buFont typeface="Arial"/>
              <a:buChar char="•"/>
            </a:pPr>
            <a:r>
              <a:rPr lang="en-US" sz="1874">
                <a:solidFill>
                  <a:srgbClr val="383838"/>
                </a:solidFill>
                <a:latin typeface="DM Sans"/>
                <a:ea typeface="DM Sans"/>
                <a:cs typeface="DM Sans"/>
                <a:sym typeface="DM Sans"/>
              </a:rPr>
              <a:t>Accessed only by authorised services within the Service Layer.</a:t>
            </a:r>
          </a:p>
        </p:txBody>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AFA"/>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a:ln w="12700">
              <a:solidFill>
                <a:srgbClr val="000000"/>
              </a:solidFill>
            </a:ln>
          </p:spPr>
        </p:sp>
      </p:grpSp>
      <p:sp>
        <p:nvSpPr>
          <p:cNvPr name="TextBox 6" id="6"/>
          <p:cNvSpPr txBox="true"/>
          <p:nvPr/>
        </p:nvSpPr>
        <p:spPr>
          <a:xfrm rot="0">
            <a:off x="770630" y="781202"/>
            <a:ext cx="15439132" cy="706437"/>
          </a:xfrm>
          <a:prstGeom prst="rect">
            <a:avLst/>
          </a:prstGeom>
        </p:spPr>
        <p:txBody>
          <a:bodyPr anchor="t" rtlCol="false" tIns="0" lIns="0" bIns="0" rIns="0">
            <a:spAutoFit/>
          </a:bodyPr>
          <a:lstStyle/>
          <a:p>
            <a:pPr algn="l">
              <a:lnSpc>
                <a:spcPts val="5687"/>
              </a:lnSpc>
            </a:pPr>
            <a:r>
              <a:rPr lang="en-US" sz="4499" b="true">
                <a:solidFill>
                  <a:srgbClr val="020202"/>
                </a:solidFill>
                <a:latin typeface="PT Serif Bold"/>
                <a:ea typeface="PT Serif Bold"/>
                <a:cs typeface="PT Serif Bold"/>
                <a:sym typeface="PT Serif Bold"/>
              </a:rPr>
              <a:t>Ensuring Security, Privacy, Scalability &amp; Maintainability</a:t>
            </a:r>
          </a:p>
        </p:txBody>
      </p:sp>
      <p:sp>
        <p:nvSpPr>
          <p:cNvPr name="TextBox 7" id="7"/>
          <p:cNvSpPr txBox="true"/>
          <p:nvPr/>
        </p:nvSpPr>
        <p:spPr>
          <a:xfrm rot="0">
            <a:off x="770630" y="2063648"/>
            <a:ext cx="3016597" cy="419100"/>
          </a:xfrm>
          <a:prstGeom prst="rect">
            <a:avLst/>
          </a:prstGeom>
        </p:spPr>
        <p:txBody>
          <a:bodyPr anchor="t" rtlCol="false" tIns="0" lIns="0" bIns="0" rIns="0">
            <a:spAutoFit/>
          </a:bodyPr>
          <a:lstStyle/>
          <a:p>
            <a:pPr algn="l">
              <a:lnSpc>
                <a:spcPts val="3374"/>
              </a:lnSpc>
            </a:pPr>
            <a:r>
              <a:rPr lang="en-US" sz="2687" b="true">
                <a:solidFill>
                  <a:srgbClr val="020202"/>
                </a:solidFill>
                <a:latin typeface="PT Serif Bold"/>
                <a:ea typeface="PT Serif Bold"/>
                <a:cs typeface="PT Serif Bold"/>
                <a:sym typeface="PT Serif Bold"/>
              </a:rPr>
              <a:t>Security &amp; Privacy</a:t>
            </a:r>
          </a:p>
        </p:txBody>
      </p:sp>
      <p:sp>
        <p:nvSpPr>
          <p:cNvPr name="Freeform 8" id="8" descr="preencoded.png"/>
          <p:cNvSpPr/>
          <p:nvPr/>
        </p:nvSpPr>
        <p:spPr>
          <a:xfrm flipH="false" flipV="false" rot="0">
            <a:off x="853230" y="2770365"/>
            <a:ext cx="330251" cy="330251"/>
          </a:xfrm>
          <a:custGeom>
            <a:avLst/>
            <a:gdLst/>
            <a:ahLst/>
            <a:cxnLst/>
            <a:rect r="r" b="b" t="t" l="l"/>
            <a:pathLst>
              <a:path h="330251" w="330251">
                <a:moveTo>
                  <a:pt x="0" y="0"/>
                </a:moveTo>
                <a:lnTo>
                  <a:pt x="330251" y="0"/>
                </a:lnTo>
                <a:lnTo>
                  <a:pt x="330251" y="330251"/>
                </a:lnTo>
                <a:lnTo>
                  <a:pt x="0" y="330251"/>
                </a:lnTo>
                <a:lnTo>
                  <a:pt x="0" y="0"/>
                </a:lnTo>
                <a:close/>
              </a:path>
            </a:pathLst>
          </a:custGeom>
          <a:blipFill>
            <a:blip r:embed="rId3">
              <a:extLst>
                <a:ext uri="{96DAC541-7B7A-43D3-8B79-37D633B846F1}">
                  <asvg:svgBlip xmlns:asvg="http://schemas.microsoft.com/office/drawing/2016/SVG/main" r:embed="rId4"/>
                </a:ext>
              </a:extLst>
            </a:blip>
            <a:stretch>
              <a:fillRect l="-8571" t="0" r="-8571" b="0"/>
            </a:stretch>
          </a:blipFill>
        </p:spPr>
      </p:sp>
      <p:sp>
        <p:nvSpPr>
          <p:cNvPr name="TextBox 9" id="9"/>
          <p:cNvSpPr txBox="true"/>
          <p:nvPr/>
        </p:nvSpPr>
        <p:spPr>
          <a:xfrm rot="0">
            <a:off x="1486195" y="2754211"/>
            <a:ext cx="3221385" cy="347663"/>
          </a:xfrm>
          <a:prstGeom prst="rect">
            <a:avLst/>
          </a:prstGeom>
        </p:spPr>
        <p:txBody>
          <a:bodyPr anchor="t" rtlCol="false" tIns="0" lIns="0" bIns="0" rIns="0">
            <a:spAutoFit/>
          </a:bodyPr>
          <a:lstStyle/>
          <a:p>
            <a:pPr algn="l">
              <a:lnSpc>
                <a:spcPts val="2812"/>
              </a:lnSpc>
            </a:pPr>
            <a:r>
              <a:rPr lang="en-US" sz="2249" b="true">
                <a:solidFill>
                  <a:srgbClr val="383838"/>
                </a:solidFill>
                <a:latin typeface="PT Serif Bold"/>
                <a:ea typeface="PT Serif Bold"/>
                <a:cs typeface="PT Serif Bold"/>
                <a:sym typeface="PT Serif Bold"/>
              </a:rPr>
              <a:t>HTTPS Communication</a:t>
            </a:r>
          </a:p>
        </p:txBody>
      </p:sp>
      <p:sp>
        <p:nvSpPr>
          <p:cNvPr name="TextBox 10" id="10"/>
          <p:cNvSpPr txBox="true"/>
          <p:nvPr/>
        </p:nvSpPr>
        <p:spPr>
          <a:xfrm rot="0">
            <a:off x="1486195" y="3278391"/>
            <a:ext cx="7389171" cy="771525"/>
          </a:xfrm>
          <a:prstGeom prst="rect">
            <a:avLst/>
          </a:prstGeom>
        </p:spPr>
        <p:txBody>
          <a:bodyPr anchor="t" rtlCol="false" tIns="0" lIns="0" bIns="0" rIns="0">
            <a:spAutoFit/>
          </a:bodyPr>
          <a:lstStyle/>
          <a:p>
            <a:pPr algn="l">
              <a:lnSpc>
                <a:spcPts val="2749"/>
              </a:lnSpc>
            </a:pPr>
            <a:r>
              <a:rPr lang="en-US" sz="1687">
                <a:solidFill>
                  <a:srgbClr val="383838"/>
                </a:solidFill>
                <a:latin typeface="DM Sans"/>
                <a:ea typeface="DM Sans"/>
                <a:cs typeface="DM Sans"/>
                <a:sym typeface="DM Sans"/>
              </a:rPr>
              <a:t>All data in transit is encrypted using HTTPS, protecting against eavesdropping and tampering.</a:t>
            </a:r>
          </a:p>
        </p:txBody>
      </p:sp>
      <p:sp>
        <p:nvSpPr>
          <p:cNvPr name="Freeform 11" id="11" descr="preencoded.png"/>
          <p:cNvSpPr/>
          <p:nvPr/>
        </p:nvSpPr>
        <p:spPr>
          <a:xfrm flipH="false" flipV="false" rot="0">
            <a:off x="853230" y="4496914"/>
            <a:ext cx="330251" cy="330251"/>
          </a:xfrm>
          <a:custGeom>
            <a:avLst/>
            <a:gdLst/>
            <a:ahLst/>
            <a:cxnLst/>
            <a:rect r="r" b="b" t="t" l="l"/>
            <a:pathLst>
              <a:path h="330251" w="330251">
                <a:moveTo>
                  <a:pt x="0" y="0"/>
                </a:moveTo>
                <a:lnTo>
                  <a:pt x="330251" y="0"/>
                </a:lnTo>
                <a:lnTo>
                  <a:pt x="330251" y="330251"/>
                </a:lnTo>
                <a:lnTo>
                  <a:pt x="0" y="330251"/>
                </a:lnTo>
                <a:lnTo>
                  <a:pt x="0" y="0"/>
                </a:lnTo>
                <a:close/>
              </a:path>
            </a:pathLst>
          </a:custGeom>
          <a:blipFill>
            <a:blip r:embed="rId3">
              <a:extLst>
                <a:ext uri="{96DAC541-7B7A-43D3-8B79-37D633B846F1}">
                  <asvg:svgBlip xmlns:asvg="http://schemas.microsoft.com/office/drawing/2016/SVG/main" r:embed="rId4"/>
                </a:ext>
              </a:extLst>
            </a:blip>
            <a:stretch>
              <a:fillRect l="-8571" t="0" r="-8571" b="0"/>
            </a:stretch>
          </a:blipFill>
        </p:spPr>
      </p:sp>
      <p:sp>
        <p:nvSpPr>
          <p:cNvPr name="TextBox 12" id="12"/>
          <p:cNvSpPr txBox="true"/>
          <p:nvPr/>
        </p:nvSpPr>
        <p:spPr>
          <a:xfrm rot="0">
            <a:off x="1486195" y="4480770"/>
            <a:ext cx="3730228" cy="347663"/>
          </a:xfrm>
          <a:prstGeom prst="rect">
            <a:avLst/>
          </a:prstGeom>
        </p:spPr>
        <p:txBody>
          <a:bodyPr anchor="t" rtlCol="false" tIns="0" lIns="0" bIns="0" rIns="0">
            <a:spAutoFit/>
          </a:bodyPr>
          <a:lstStyle/>
          <a:p>
            <a:pPr algn="l">
              <a:lnSpc>
                <a:spcPts val="2812"/>
              </a:lnSpc>
            </a:pPr>
            <a:r>
              <a:rPr lang="en-US" sz="2249" b="true">
                <a:solidFill>
                  <a:srgbClr val="383838"/>
                </a:solidFill>
                <a:latin typeface="PT Serif Bold"/>
                <a:ea typeface="PT Serif Bold"/>
                <a:cs typeface="PT Serif Bold"/>
                <a:sym typeface="PT Serif Bold"/>
              </a:rPr>
              <a:t>Centralised Authentication</a:t>
            </a:r>
          </a:p>
        </p:txBody>
      </p:sp>
      <p:sp>
        <p:nvSpPr>
          <p:cNvPr name="TextBox 13" id="13"/>
          <p:cNvSpPr txBox="true"/>
          <p:nvPr/>
        </p:nvSpPr>
        <p:spPr>
          <a:xfrm rot="0">
            <a:off x="1486195" y="5004940"/>
            <a:ext cx="7389171" cy="771525"/>
          </a:xfrm>
          <a:prstGeom prst="rect">
            <a:avLst/>
          </a:prstGeom>
        </p:spPr>
        <p:txBody>
          <a:bodyPr anchor="t" rtlCol="false" tIns="0" lIns="0" bIns="0" rIns="0">
            <a:spAutoFit/>
          </a:bodyPr>
          <a:lstStyle/>
          <a:p>
            <a:pPr algn="l">
              <a:lnSpc>
                <a:spcPts val="2749"/>
              </a:lnSpc>
            </a:pPr>
            <a:r>
              <a:rPr lang="en-US" sz="1687">
                <a:solidFill>
                  <a:srgbClr val="383838"/>
                </a:solidFill>
                <a:latin typeface="DM Sans"/>
                <a:ea typeface="DM Sans"/>
                <a:cs typeface="DM Sans"/>
                <a:sym typeface="DM Sans"/>
              </a:rPr>
              <a:t>Managed by a dedicated Authentication Service via the API Gateway, ensuring consistent and secure access control.</a:t>
            </a:r>
          </a:p>
        </p:txBody>
      </p:sp>
      <p:sp>
        <p:nvSpPr>
          <p:cNvPr name="Freeform 14" id="14" descr="preencoded.png"/>
          <p:cNvSpPr/>
          <p:nvPr/>
        </p:nvSpPr>
        <p:spPr>
          <a:xfrm flipH="false" flipV="false" rot="0">
            <a:off x="853230" y="6223473"/>
            <a:ext cx="330251" cy="330251"/>
          </a:xfrm>
          <a:custGeom>
            <a:avLst/>
            <a:gdLst/>
            <a:ahLst/>
            <a:cxnLst/>
            <a:rect r="r" b="b" t="t" l="l"/>
            <a:pathLst>
              <a:path h="330251" w="330251">
                <a:moveTo>
                  <a:pt x="0" y="0"/>
                </a:moveTo>
                <a:lnTo>
                  <a:pt x="330251" y="0"/>
                </a:lnTo>
                <a:lnTo>
                  <a:pt x="330251" y="330251"/>
                </a:lnTo>
                <a:lnTo>
                  <a:pt x="0" y="330251"/>
                </a:lnTo>
                <a:lnTo>
                  <a:pt x="0" y="0"/>
                </a:lnTo>
                <a:close/>
              </a:path>
            </a:pathLst>
          </a:custGeom>
          <a:blipFill>
            <a:blip r:embed="rId3">
              <a:extLst>
                <a:ext uri="{96DAC541-7B7A-43D3-8B79-37D633B846F1}">
                  <asvg:svgBlip xmlns:asvg="http://schemas.microsoft.com/office/drawing/2016/SVG/main" r:embed="rId4"/>
                </a:ext>
              </a:extLst>
            </a:blip>
            <a:stretch>
              <a:fillRect l="-8571" t="0" r="-8571" b="0"/>
            </a:stretch>
          </a:blipFill>
        </p:spPr>
      </p:sp>
      <p:sp>
        <p:nvSpPr>
          <p:cNvPr name="TextBox 15" id="15"/>
          <p:cNvSpPr txBox="true"/>
          <p:nvPr/>
        </p:nvSpPr>
        <p:spPr>
          <a:xfrm rot="0">
            <a:off x="1486195" y="6207328"/>
            <a:ext cx="3626793" cy="347663"/>
          </a:xfrm>
          <a:prstGeom prst="rect">
            <a:avLst/>
          </a:prstGeom>
        </p:spPr>
        <p:txBody>
          <a:bodyPr anchor="t" rtlCol="false" tIns="0" lIns="0" bIns="0" rIns="0">
            <a:spAutoFit/>
          </a:bodyPr>
          <a:lstStyle/>
          <a:p>
            <a:pPr algn="l">
              <a:lnSpc>
                <a:spcPts val="2812"/>
              </a:lnSpc>
            </a:pPr>
            <a:r>
              <a:rPr lang="en-US" sz="2249" b="true">
                <a:solidFill>
                  <a:srgbClr val="383838"/>
                </a:solidFill>
                <a:latin typeface="PT Serif Bold"/>
                <a:ea typeface="PT Serif Bold"/>
                <a:cs typeface="PT Serif Bold"/>
                <a:sym typeface="PT Serif Bold"/>
              </a:rPr>
              <a:t>Role-Based Access Control</a:t>
            </a:r>
          </a:p>
        </p:txBody>
      </p:sp>
      <p:sp>
        <p:nvSpPr>
          <p:cNvPr name="TextBox 16" id="16"/>
          <p:cNvSpPr txBox="true"/>
          <p:nvPr/>
        </p:nvSpPr>
        <p:spPr>
          <a:xfrm rot="0">
            <a:off x="1486195" y="6731498"/>
            <a:ext cx="7389171" cy="771525"/>
          </a:xfrm>
          <a:prstGeom prst="rect">
            <a:avLst/>
          </a:prstGeom>
        </p:spPr>
        <p:txBody>
          <a:bodyPr anchor="t" rtlCol="false" tIns="0" lIns="0" bIns="0" rIns="0">
            <a:spAutoFit/>
          </a:bodyPr>
          <a:lstStyle/>
          <a:p>
            <a:pPr algn="l">
              <a:lnSpc>
                <a:spcPts val="2749"/>
              </a:lnSpc>
            </a:pPr>
            <a:r>
              <a:rPr lang="en-US" sz="1687">
                <a:solidFill>
                  <a:srgbClr val="383838"/>
                </a:solidFill>
                <a:latin typeface="DM Sans"/>
                <a:ea typeface="DM Sans"/>
                <a:cs typeface="DM Sans"/>
                <a:sym typeface="DM Sans"/>
              </a:rPr>
              <a:t>Fine-grained permissions restrict access to specific functionalities and data based on user roles (User, Therapist, Admin).</a:t>
            </a:r>
          </a:p>
        </p:txBody>
      </p:sp>
      <p:sp>
        <p:nvSpPr>
          <p:cNvPr name="Freeform 17" id="17" descr="preencoded.png"/>
          <p:cNvSpPr/>
          <p:nvPr/>
        </p:nvSpPr>
        <p:spPr>
          <a:xfrm flipH="false" flipV="false" rot="0">
            <a:off x="853230" y="7950022"/>
            <a:ext cx="330251" cy="330251"/>
          </a:xfrm>
          <a:custGeom>
            <a:avLst/>
            <a:gdLst/>
            <a:ahLst/>
            <a:cxnLst/>
            <a:rect r="r" b="b" t="t" l="l"/>
            <a:pathLst>
              <a:path h="330251" w="330251">
                <a:moveTo>
                  <a:pt x="0" y="0"/>
                </a:moveTo>
                <a:lnTo>
                  <a:pt x="330251" y="0"/>
                </a:lnTo>
                <a:lnTo>
                  <a:pt x="330251" y="330251"/>
                </a:lnTo>
                <a:lnTo>
                  <a:pt x="0" y="330251"/>
                </a:lnTo>
                <a:lnTo>
                  <a:pt x="0" y="0"/>
                </a:lnTo>
                <a:close/>
              </a:path>
            </a:pathLst>
          </a:custGeom>
          <a:blipFill>
            <a:blip r:embed="rId3">
              <a:extLst>
                <a:ext uri="{96DAC541-7B7A-43D3-8B79-37D633B846F1}">
                  <asvg:svgBlip xmlns:asvg="http://schemas.microsoft.com/office/drawing/2016/SVG/main" r:embed="rId4"/>
                </a:ext>
              </a:extLst>
            </a:blip>
            <a:stretch>
              <a:fillRect l="-8571" t="0" r="-8571" b="0"/>
            </a:stretch>
          </a:blipFill>
        </p:spPr>
      </p:sp>
      <p:sp>
        <p:nvSpPr>
          <p:cNvPr name="TextBox 18" id="18"/>
          <p:cNvSpPr txBox="true"/>
          <p:nvPr/>
        </p:nvSpPr>
        <p:spPr>
          <a:xfrm rot="0">
            <a:off x="1486195" y="7933877"/>
            <a:ext cx="2971651" cy="347663"/>
          </a:xfrm>
          <a:prstGeom prst="rect">
            <a:avLst/>
          </a:prstGeom>
        </p:spPr>
        <p:txBody>
          <a:bodyPr anchor="t" rtlCol="false" tIns="0" lIns="0" bIns="0" rIns="0">
            <a:spAutoFit/>
          </a:bodyPr>
          <a:lstStyle/>
          <a:p>
            <a:pPr algn="l">
              <a:lnSpc>
                <a:spcPts val="2812"/>
              </a:lnSpc>
            </a:pPr>
            <a:r>
              <a:rPr lang="en-US" sz="2249" b="true">
                <a:solidFill>
                  <a:srgbClr val="383838"/>
                </a:solidFill>
                <a:latin typeface="PT Serif Bold"/>
                <a:ea typeface="PT Serif Bold"/>
                <a:cs typeface="PT Serif Bold"/>
                <a:sym typeface="PT Serif Bold"/>
              </a:rPr>
              <a:t>Secure Data Handling</a:t>
            </a:r>
          </a:p>
        </p:txBody>
      </p:sp>
      <p:sp>
        <p:nvSpPr>
          <p:cNvPr name="TextBox 19" id="19"/>
          <p:cNvSpPr txBox="true"/>
          <p:nvPr/>
        </p:nvSpPr>
        <p:spPr>
          <a:xfrm rot="0">
            <a:off x="1486195" y="8458048"/>
            <a:ext cx="7389171" cy="771525"/>
          </a:xfrm>
          <a:prstGeom prst="rect">
            <a:avLst/>
          </a:prstGeom>
        </p:spPr>
        <p:txBody>
          <a:bodyPr anchor="t" rtlCol="false" tIns="0" lIns="0" bIns="0" rIns="0">
            <a:spAutoFit/>
          </a:bodyPr>
          <a:lstStyle/>
          <a:p>
            <a:pPr algn="l">
              <a:lnSpc>
                <a:spcPts val="2749"/>
              </a:lnSpc>
            </a:pPr>
            <a:r>
              <a:rPr lang="en-US" sz="1687">
                <a:solidFill>
                  <a:srgbClr val="383838"/>
                </a:solidFill>
                <a:latin typeface="DM Sans"/>
                <a:ea typeface="DM Sans"/>
                <a:cs typeface="DM Sans"/>
                <a:sym typeface="DM Sans"/>
              </a:rPr>
              <a:t>Sensitive mental health data is stored securely in the Data Layer with appropriate encryption and access protocols.</a:t>
            </a:r>
          </a:p>
        </p:txBody>
      </p:sp>
      <p:sp>
        <p:nvSpPr>
          <p:cNvPr name="TextBox 20" id="20"/>
          <p:cNvSpPr txBox="true"/>
          <p:nvPr/>
        </p:nvSpPr>
        <p:spPr>
          <a:xfrm rot="0">
            <a:off x="9422159" y="2063648"/>
            <a:ext cx="4743599" cy="419100"/>
          </a:xfrm>
          <a:prstGeom prst="rect">
            <a:avLst/>
          </a:prstGeom>
        </p:spPr>
        <p:txBody>
          <a:bodyPr anchor="t" rtlCol="false" tIns="0" lIns="0" bIns="0" rIns="0">
            <a:spAutoFit/>
          </a:bodyPr>
          <a:lstStyle/>
          <a:p>
            <a:pPr algn="l">
              <a:lnSpc>
                <a:spcPts val="3374"/>
              </a:lnSpc>
            </a:pPr>
            <a:r>
              <a:rPr lang="en-US" sz="2687" b="true">
                <a:solidFill>
                  <a:srgbClr val="020202"/>
                </a:solidFill>
                <a:latin typeface="PT Serif Bold"/>
                <a:ea typeface="PT Serif Bold"/>
                <a:cs typeface="PT Serif Bold"/>
                <a:sym typeface="PT Serif Bold"/>
              </a:rPr>
              <a:t>Scalability &amp; Maintainability</a:t>
            </a:r>
          </a:p>
        </p:txBody>
      </p:sp>
      <p:sp>
        <p:nvSpPr>
          <p:cNvPr name="Freeform 21" id="21" descr="preencoded.png"/>
          <p:cNvSpPr/>
          <p:nvPr/>
        </p:nvSpPr>
        <p:spPr>
          <a:xfrm flipH="false" flipV="false" rot="0">
            <a:off x="9504759" y="2770365"/>
            <a:ext cx="330251" cy="330251"/>
          </a:xfrm>
          <a:custGeom>
            <a:avLst/>
            <a:gdLst/>
            <a:ahLst/>
            <a:cxnLst/>
            <a:rect r="r" b="b" t="t" l="l"/>
            <a:pathLst>
              <a:path h="330251" w="330251">
                <a:moveTo>
                  <a:pt x="0" y="0"/>
                </a:moveTo>
                <a:lnTo>
                  <a:pt x="330251" y="0"/>
                </a:lnTo>
                <a:lnTo>
                  <a:pt x="330251" y="330251"/>
                </a:lnTo>
                <a:lnTo>
                  <a:pt x="0" y="330251"/>
                </a:lnTo>
                <a:lnTo>
                  <a:pt x="0" y="0"/>
                </a:lnTo>
                <a:close/>
              </a:path>
            </a:pathLst>
          </a:custGeom>
          <a:blipFill>
            <a:blip r:embed="rId3">
              <a:extLst>
                <a:ext uri="{96DAC541-7B7A-43D3-8B79-37D633B846F1}">
                  <asvg:svgBlip xmlns:asvg="http://schemas.microsoft.com/office/drawing/2016/SVG/main" r:embed="rId4"/>
                </a:ext>
              </a:extLst>
            </a:blip>
            <a:stretch>
              <a:fillRect l="-8571" t="0" r="-8571" b="0"/>
            </a:stretch>
          </a:blipFill>
        </p:spPr>
      </p:sp>
      <p:sp>
        <p:nvSpPr>
          <p:cNvPr name="TextBox 22" id="22"/>
          <p:cNvSpPr txBox="true"/>
          <p:nvPr/>
        </p:nvSpPr>
        <p:spPr>
          <a:xfrm rot="0">
            <a:off x="10137724" y="2754211"/>
            <a:ext cx="2550170" cy="347663"/>
          </a:xfrm>
          <a:prstGeom prst="rect">
            <a:avLst/>
          </a:prstGeom>
        </p:spPr>
        <p:txBody>
          <a:bodyPr anchor="t" rtlCol="false" tIns="0" lIns="0" bIns="0" rIns="0">
            <a:spAutoFit/>
          </a:bodyPr>
          <a:lstStyle/>
          <a:p>
            <a:pPr algn="l">
              <a:lnSpc>
                <a:spcPts val="2812"/>
              </a:lnSpc>
            </a:pPr>
            <a:r>
              <a:rPr lang="en-US" sz="2249" b="true">
                <a:solidFill>
                  <a:srgbClr val="383838"/>
                </a:solidFill>
                <a:latin typeface="PT Serif Bold"/>
                <a:ea typeface="PT Serif Bold"/>
                <a:cs typeface="PT Serif Bold"/>
                <a:sym typeface="PT Serif Bold"/>
              </a:rPr>
              <a:t>Feature Expansion</a:t>
            </a:r>
          </a:p>
        </p:txBody>
      </p:sp>
      <p:sp>
        <p:nvSpPr>
          <p:cNvPr name="TextBox 23" id="23"/>
          <p:cNvSpPr txBox="true"/>
          <p:nvPr/>
        </p:nvSpPr>
        <p:spPr>
          <a:xfrm rot="0">
            <a:off x="10137724" y="3278391"/>
            <a:ext cx="7389171" cy="771525"/>
          </a:xfrm>
          <a:prstGeom prst="rect">
            <a:avLst/>
          </a:prstGeom>
        </p:spPr>
        <p:txBody>
          <a:bodyPr anchor="t" rtlCol="false" tIns="0" lIns="0" bIns="0" rIns="0">
            <a:spAutoFit/>
          </a:bodyPr>
          <a:lstStyle/>
          <a:p>
            <a:pPr algn="l">
              <a:lnSpc>
                <a:spcPts val="2749"/>
              </a:lnSpc>
            </a:pPr>
            <a:r>
              <a:rPr lang="en-US" sz="1687">
                <a:solidFill>
                  <a:srgbClr val="383838"/>
                </a:solidFill>
                <a:latin typeface="DM Sans"/>
                <a:ea typeface="DM Sans"/>
                <a:cs typeface="DM Sans"/>
                <a:sym typeface="DM Sans"/>
              </a:rPr>
              <a:t>Modular service design allows easy integration of new features or services without disrupting existing ones.</a:t>
            </a:r>
          </a:p>
        </p:txBody>
      </p:sp>
      <p:sp>
        <p:nvSpPr>
          <p:cNvPr name="Freeform 24" id="24" descr="preencoded.png"/>
          <p:cNvSpPr/>
          <p:nvPr/>
        </p:nvSpPr>
        <p:spPr>
          <a:xfrm flipH="false" flipV="false" rot="0">
            <a:off x="9504759" y="4496914"/>
            <a:ext cx="330251" cy="330251"/>
          </a:xfrm>
          <a:custGeom>
            <a:avLst/>
            <a:gdLst/>
            <a:ahLst/>
            <a:cxnLst/>
            <a:rect r="r" b="b" t="t" l="l"/>
            <a:pathLst>
              <a:path h="330251" w="330251">
                <a:moveTo>
                  <a:pt x="0" y="0"/>
                </a:moveTo>
                <a:lnTo>
                  <a:pt x="330251" y="0"/>
                </a:lnTo>
                <a:lnTo>
                  <a:pt x="330251" y="330251"/>
                </a:lnTo>
                <a:lnTo>
                  <a:pt x="0" y="330251"/>
                </a:lnTo>
                <a:lnTo>
                  <a:pt x="0" y="0"/>
                </a:lnTo>
                <a:close/>
              </a:path>
            </a:pathLst>
          </a:custGeom>
          <a:blipFill>
            <a:blip r:embed="rId3">
              <a:extLst>
                <a:ext uri="{96DAC541-7B7A-43D3-8B79-37D633B846F1}">
                  <asvg:svgBlip xmlns:asvg="http://schemas.microsoft.com/office/drawing/2016/SVG/main" r:embed="rId4"/>
                </a:ext>
              </a:extLst>
            </a:blip>
            <a:stretch>
              <a:fillRect l="-8571" t="0" r="-8571" b="0"/>
            </a:stretch>
          </a:blipFill>
        </p:spPr>
      </p:sp>
      <p:sp>
        <p:nvSpPr>
          <p:cNvPr name="TextBox 25" id="25"/>
          <p:cNvSpPr txBox="true"/>
          <p:nvPr/>
        </p:nvSpPr>
        <p:spPr>
          <a:xfrm rot="0">
            <a:off x="10137724" y="4480770"/>
            <a:ext cx="2749302" cy="347663"/>
          </a:xfrm>
          <a:prstGeom prst="rect">
            <a:avLst/>
          </a:prstGeom>
        </p:spPr>
        <p:txBody>
          <a:bodyPr anchor="t" rtlCol="false" tIns="0" lIns="0" bIns="0" rIns="0">
            <a:spAutoFit/>
          </a:bodyPr>
          <a:lstStyle/>
          <a:p>
            <a:pPr algn="l">
              <a:lnSpc>
                <a:spcPts val="2812"/>
              </a:lnSpc>
            </a:pPr>
            <a:r>
              <a:rPr lang="en-US" sz="2249" b="true">
                <a:solidFill>
                  <a:srgbClr val="383838"/>
                </a:solidFill>
                <a:latin typeface="PT Serif Bold"/>
                <a:ea typeface="PT Serif Bold"/>
                <a:cs typeface="PT Serif Bold"/>
                <a:sym typeface="PT Serif Bold"/>
              </a:rPr>
              <a:t>Increased User Load</a:t>
            </a:r>
          </a:p>
        </p:txBody>
      </p:sp>
      <p:sp>
        <p:nvSpPr>
          <p:cNvPr name="TextBox 26" id="26"/>
          <p:cNvSpPr txBox="true"/>
          <p:nvPr/>
        </p:nvSpPr>
        <p:spPr>
          <a:xfrm rot="0">
            <a:off x="10137724" y="5004940"/>
            <a:ext cx="7389171" cy="771525"/>
          </a:xfrm>
          <a:prstGeom prst="rect">
            <a:avLst/>
          </a:prstGeom>
        </p:spPr>
        <p:txBody>
          <a:bodyPr anchor="t" rtlCol="false" tIns="0" lIns="0" bIns="0" rIns="0">
            <a:spAutoFit/>
          </a:bodyPr>
          <a:lstStyle/>
          <a:p>
            <a:pPr algn="l">
              <a:lnSpc>
                <a:spcPts val="2749"/>
              </a:lnSpc>
            </a:pPr>
            <a:r>
              <a:rPr lang="en-US" sz="1687">
                <a:solidFill>
                  <a:srgbClr val="383838"/>
                </a:solidFill>
                <a:latin typeface="DM Sans"/>
                <a:ea typeface="DM Sans"/>
                <a:cs typeface="DM Sans"/>
                <a:sym typeface="DM Sans"/>
              </a:rPr>
              <a:t>Individual services can be scaled independently, enabling the system to handle growth in user numbers and data.</a:t>
            </a:r>
          </a:p>
        </p:txBody>
      </p:sp>
      <p:sp>
        <p:nvSpPr>
          <p:cNvPr name="Freeform 27" id="27" descr="preencoded.png"/>
          <p:cNvSpPr/>
          <p:nvPr/>
        </p:nvSpPr>
        <p:spPr>
          <a:xfrm flipH="false" flipV="false" rot="0">
            <a:off x="9504759" y="6223473"/>
            <a:ext cx="330251" cy="330251"/>
          </a:xfrm>
          <a:custGeom>
            <a:avLst/>
            <a:gdLst/>
            <a:ahLst/>
            <a:cxnLst/>
            <a:rect r="r" b="b" t="t" l="l"/>
            <a:pathLst>
              <a:path h="330251" w="330251">
                <a:moveTo>
                  <a:pt x="0" y="0"/>
                </a:moveTo>
                <a:lnTo>
                  <a:pt x="330251" y="0"/>
                </a:lnTo>
                <a:lnTo>
                  <a:pt x="330251" y="330251"/>
                </a:lnTo>
                <a:lnTo>
                  <a:pt x="0" y="330251"/>
                </a:lnTo>
                <a:lnTo>
                  <a:pt x="0" y="0"/>
                </a:lnTo>
                <a:close/>
              </a:path>
            </a:pathLst>
          </a:custGeom>
          <a:blipFill>
            <a:blip r:embed="rId3">
              <a:extLst>
                <a:ext uri="{96DAC541-7B7A-43D3-8B79-37D633B846F1}">
                  <asvg:svgBlip xmlns:asvg="http://schemas.microsoft.com/office/drawing/2016/SVG/main" r:embed="rId4"/>
                </a:ext>
              </a:extLst>
            </a:blip>
            <a:stretch>
              <a:fillRect l="-8571" t="0" r="-8571" b="0"/>
            </a:stretch>
          </a:blipFill>
        </p:spPr>
      </p:sp>
      <p:sp>
        <p:nvSpPr>
          <p:cNvPr name="TextBox 28" id="28"/>
          <p:cNvSpPr txBox="true"/>
          <p:nvPr/>
        </p:nvSpPr>
        <p:spPr>
          <a:xfrm rot="0">
            <a:off x="10137724" y="6207328"/>
            <a:ext cx="2699891" cy="347663"/>
          </a:xfrm>
          <a:prstGeom prst="rect">
            <a:avLst/>
          </a:prstGeom>
        </p:spPr>
        <p:txBody>
          <a:bodyPr anchor="t" rtlCol="false" tIns="0" lIns="0" bIns="0" rIns="0">
            <a:spAutoFit/>
          </a:bodyPr>
          <a:lstStyle/>
          <a:p>
            <a:pPr algn="l">
              <a:lnSpc>
                <a:spcPts val="2812"/>
              </a:lnSpc>
            </a:pPr>
            <a:r>
              <a:rPr lang="en-US" sz="2249" b="true">
                <a:solidFill>
                  <a:srgbClr val="383838"/>
                </a:solidFill>
                <a:latin typeface="PT Serif Bold"/>
                <a:ea typeface="PT Serif Bold"/>
                <a:cs typeface="PT Serif Bold"/>
                <a:sym typeface="PT Serif Bold"/>
              </a:rPr>
              <a:t>Easier Maintenance</a:t>
            </a:r>
          </a:p>
        </p:txBody>
      </p:sp>
      <p:sp>
        <p:nvSpPr>
          <p:cNvPr name="TextBox 29" id="29"/>
          <p:cNvSpPr txBox="true"/>
          <p:nvPr/>
        </p:nvSpPr>
        <p:spPr>
          <a:xfrm rot="0">
            <a:off x="10137724" y="6731498"/>
            <a:ext cx="7389171" cy="771525"/>
          </a:xfrm>
          <a:prstGeom prst="rect">
            <a:avLst/>
          </a:prstGeom>
        </p:spPr>
        <p:txBody>
          <a:bodyPr anchor="t" rtlCol="false" tIns="0" lIns="0" bIns="0" rIns="0">
            <a:spAutoFit/>
          </a:bodyPr>
          <a:lstStyle/>
          <a:p>
            <a:pPr algn="l">
              <a:lnSpc>
                <a:spcPts val="2749"/>
              </a:lnSpc>
            </a:pPr>
            <a:r>
              <a:rPr lang="en-US" sz="1687">
                <a:solidFill>
                  <a:srgbClr val="383838"/>
                </a:solidFill>
                <a:latin typeface="DM Sans"/>
                <a:ea typeface="DM Sans"/>
                <a:cs typeface="DM Sans"/>
                <a:sym typeface="DM Sans"/>
              </a:rPr>
              <a:t>Isolation of services simplifies debugging, updates, and hot-fixes, reducing downtime and operational risks.</a:t>
            </a:r>
          </a:p>
        </p:txBody>
      </p:sp>
      <p:sp>
        <p:nvSpPr>
          <p:cNvPr name="Freeform 30" id="30" descr="preencoded.png"/>
          <p:cNvSpPr/>
          <p:nvPr/>
        </p:nvSpPr>
        <p:spPr>
          <a:xfrm flipH="false" flipV="false" rot="0">
            <a:off x="9504759" y="7950022"/>
            <a:ext cx="330251" cy="330251"/>
          </a:xfrm>
          <a:custGeom>
            <a:avLst/>
            <a:gdLst/>
            <a:ahLst/>
            <a:cxnLst/>
            <a:rect r="r" b="b" t="t" l="l"/>
            <a:pathLst>
              <a:path h="330251" w="330251">
                <a:moveTo>
                  <a:pt x="0" y="0"/>
                </a:moveTo>
                <a:lnTo>
                  <a:pt x="330251" y="0"/>
                </a:lnTo>
                <a:lnTo>
                  <a:pt x="330251" y="330251"/>
                </a:lnTo>
                <a:lnTo>
                  <a:pt x="0" y="330251"/>
                </a:lnTo>
                <a:lnTo>
                  <a:pt x="0" y="0"/>
                </a:lnTo>
                <a:close/>
              </a:path>
            </a:pathLst>
          </a:custGeom>
          <a:blipFill>
            <a:blip r:embed="rId3">
              <a:extLst>
                <a:ext uri="{96DAC541-7B7A-43D3-8B79-37D633B846F1}">
                  <asvg:svgBlip xmlns:asvg="http://schemas.microsoft.com/office/drawing/2016/SVG/main" r:embed="rId4"/>
                </a:ext>
              </a:extLst>
            </a:blip>
            <a:stretch>
              <a:fillRect l="-8571" t="0" r="-8571" b="0"/>
            </a:stretch>
          </a:blipFill>
        </p:spPr>
      </p:sp>
      <p:sp>
        <p:nvSpPr>
          <p:cNvPr name="TextBox 31" id="31"/>
          <p:cNvSpPr txBox="true"/>
          <p:nvPr/>
        </p:nvSpPr>
        <p:spPr>
          <a:xfrm rot="0">
            <a:off x="10137724" y="7933877"/>
            <a:ext cx="3301603" cy="347663"/>
          </a:xfrm>
          <a:prstGeom prst="rect">
            <a:avLst/>
          </a:prstGeom>
        </p:spPr>
        <p:txBody>
          <a:bodyPr anchor="t" rtlCol="false" tIns="0" lIns="0" bIns="0" rIns="0">
            <a:spAutoFit/>
          </a:bodyPr>
          <a:lstStyle/>
          <a:p>
            <a:pPr algn="l">
              <a:lnSpc>
                <a:spcPts val="2812"/>
              </a:lnSpc>
            </a:pPr>
            <a:r>
              <a:rPr lang="en-US" sz="2249" b="true">
                <a:solidFill>
                  <a:srgbClr val="383838"/>
                </a:solidFill>
                <a:latin typeface="PT Serif Bold"/>
                <a:ea typeface="PT Serif Bold"/>
                <a:cs typeface="PT Serif Bold"/>
                <a:sym typeface="PT Serif Bold"/>
              </a:rPr>
              <a:t>Reduced Change Impact</a:t>
            </a:r>
          </a:p>
        </p:txBody>
      </p:sp>
      <p:sp>
        <p:nvSpPr>
          <p:cNvPr name="TextBox 32" id="32"/>
          <p:cNvSpPr txBox="true"/>
          <p:nvPr/>
        </p:nvSpPr>
        <p:spPr>
          <a:xfrm rot="0">
            <a:off x="10137724" y="8458048"/>
            <a:ext cx="7389171" cy="771525"/>
          </a:xfrm>
          <a:prstGeom prst="rect">
            <a:avLst/>
          </a:prstGeom>
        </p:spPr>
        <p:txBody>
          <a:bodyPr anchor="t" rtlCol="false" tIns="0" lIns="0" bIns="0" rIns="0">
            <a:spAutoFit/>
          </a:bodyPr>
          <a:lstStyle/>
          <a:p>
            <a:pPr algn="l">
              <a:lnSpc>
                <a:spcPts val="2749"/>
              </a:lnSpc>
            </a:pPr>
            <a:r>
              <a:rPr lang="en-US" sz="1687">
                <a:solidFill>
                  <a:srgbClr val="383838"/>
                </a:solidFill>
                <a:latin typeface="DM Sans"/>
                <a:ea typeface="DM Sans"/>
                <a:cs typeface="DM Sans"/>
                <a:sym typeface="DM Sans"/>
              </a:rPr>
              <a:t>Changes in one service are less likely to affect others, leading to a more stable and resilient system.</a:t>
            </a:r>
          </a:p>
        </p:txBody>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AFA"/>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a:ln w="12700">
              <a:solidFill>
                <a:srgbClr val="000000"/>
              </a:solidFill>
            </a:ln>
          </p:spPr>
        </p:sp>
      </p:grpSp>
      <p:sp>
        <p:nvSpPr>
          <p:cNvPr name="Freeform 6" id="6" descr="preencoded.png"/>
          <p:cNvSpPr/>
          <p:nvPr/>
        </p:nvSpPr>
        <p:spPr>
          <a:xfrm flipH="false" flipV="false" rot="0">
            <a:off x="0" y="0"/>
            <a:ext cx="18288000" cy="3055439"/>
          </a:xfrm>
          <a:custGeom>
            <a:avLst/>
            <a:gdLst/>
            <a:ahLst/>
            <a:cxnLst/>
            <a:rect r="r" b="b" t="t" l="l"/>
            <a:pathLst>
              <a:path h="3055439" w="18288000">
                <a:moveTo>
                  <a:pt x="0" y="0"/>
                </a:moveTo>
                <a:lnTo>
                  <a:pt x="18288000" y="0"/>
                </a:lnTo>
                <a:lnTo>
                  <a:pt x="18288000" y="3055439"/>
                </a:lnTo>
                <a:lnTo>
                  <a:pt x="0" y="3055439"/>
                </a:lnTo>
                <a:lnTo>
                  <a:pt x="0" y="0"/>
                </a:lnTo>
                <a:close/>
              </a:path>
            </a:pathLst>
          </a:custGeom>
          <a:blipFill>
            <a:blip r:embed="rId3"/>
            <a:stretch>
              <a:fillRect l="0" t="-33" r="0" b="-34"/>
            </a:stretch>
          </a:blipFill>
        </p:spPr>
      </p:sp>
      <p:sp>
        <p:nvSpPr>
          <p:cNvPr name="TextBox 7" id="7"/>
          <p:cNvSpPr txBox="true"/>
          <p:nvPr/>
        </p:nvSpPr>
        <p:spPr>
          <a:xfrm rot="0">
            <a:off x="855459" y="3691833"/>
            <a:ext cx="15032385" cy="798512"/>
          </a:xfrm>
          <a:prstGeom prst="rect">
            <a:avLst/>
          </a:prstGeom>
        </p:spPr>
        <p:txBody>
          <a:bodyPr anchor="t" rtlCol="false" tIns="0" lIns="0" bIns="0" rIns="0">
            <a:spAutoFit/>
          </a:bodyPr>
          <a:lstStyle/>
          <a:p>
            <a:pPr algn="l">
              <a:lnSpc>
                <a:spcPts val="6312"/>
              </a:lnSpc>
            </a:pPr>
            <a:r>
              <a:rPr lang="en-US" sz="4999" b="true">
                <a:solidFill>
                  <a:srgbClr val="020202"/>
                </a:solidFill>
                <a:latin typeface="PT Serif Bold"/>
                <a:ea typeface="PT Serif Bold"/>
                <a:cs typeface="PT Serif Bold"/>
                <a:sym typeface="PT Serif Bold"/>
              </a:rPr>
              <a:t>Conclusion: A Resilient Foundation for MindCare</a:t>
            </a:r>
          </a:p>
        </p:txBody>
      </p:sp>
      <p:sp>
        <p:nvSpPr>
          <p:cNvPr name="TextBox 8" id="8"/>
          <p:cNvSpPr txBox="true"/>
          <p:nvPr/>
        </p:nvSpPr>
        <p:spPr>
          <a:xfrm rot="0">
            <a:off x="855459" y="4822184"/>
            <a:ext cx="16577072" cy="1249118"/>
          </a:xfrm>
          <a:prstGeom prst="rect">
            <a:avLst/>
          </a:prstGeom>
        </p:spPr>
        <p:txBody>
          <a:bodyPr anchor="t" rtlCol="false" tIns="0" lIns="0" bIns="0" rIns="0">
            <a:spAutoFit/>
          </a:bodyPr>
          <a:lstStyle/>
          <a:p>
            <a:pPr algn="l">
              <a:lnSpc>
                <a:spcPts val="3062"/>
              </a:lnSpc>
            </a:pPr>
            <a:r>
              <a:rPr lang="en-US" sz="1874">
                <a:solidFill>
                  <a:srgbClr val="383838"/>
                </a:solidFill>
                <a:latin typeface="DM Sans"/>
                <a:ea typeface="DM Sans"/>
                <a:cs typeface="DM Sans"/>
                <a:sym typeface="DM Sans"/>
              </a:rPr>
              <a:t>The chosen Layered Client-Server Architecture with API Gateway and a Service Layer provides a robust and adaptable foundation for MindCare. This architectural design successfully balances the need for security, scalability, and maintainability, crucial for an online mental health support system.</a:t>
            </a:r>
          </a:p>
        </p:txBody>
      </p:sp>
      <p:grpSp>
        <p:nvGrpSpPr>
          <p:cNvPr name="Group 9" id="9"/>
          <p:cNvGrpSpPr/>
          <p:nvPr/>
        </p:nvGrpSpPr>
        <p:grpSpPr>
          <a:xfrm rot="0">
            <a:off x="855459" y="6346184"/>
            <a:ext cx="5362727" cy="2600325"/>
            <a:chOff x="0" y="0"/>
            <a:chExt cx="7150303" cy="3467100"/>
          </a:xfrm>
        </p:grpSpPr>
        <p:sp>
          <p:nvSpPr>
            <p:cNvPr name="Freeform 10" id="10"/>
            <p:cNvSpPr/>
            <p:nvPr/>
          </p:nvSpPr>
          <p:spPr>
            <a:xfrm flipH="false" flipV="false" rot="0">
              <a:off x="0" y="0"/>
              <a:ext cx="7150227" cy="3467100"/>
            </a:xfrm>
            <a:custGeom>
              <a:avLst/>
              <a:gdLst/>
              <a:ahLst/>
              <a:cxnLst/>
              <a:rect r="r" b="b" t="t" l="l"/>
              <a:pathLst>
                <a:path h="3467100" w="7150227">
                  <a:moveTo>
                    <a:pt x="0" y="782193"/>
                  </a:moveTo>
                  <a:cubicBezTo>
                    <a:pt x="0" y="350266"/>
                    <a:pt x="350266" y="0"/>
                    <a:pt x="782193" y="0"/>
                  </a:cubicBezTo>
                  <a:lnTo>
                    <a:pt x="6368034" y="0"/>
                  </a:lnTo>
                  <a:cubicBezTo>
                    <a:pt x="6800088" y="0"/>
                    <a:pt x="7150227" y="350266"/>
                    <a:pt x="7150227" y="782193"/>
                  </a:cubicBezTo>
                  <a:lnTo>
                    <a:pt x="7150227" y="2684907"/>
                  </a:lnTo>
                  <a:cubicBezTo>
                    <a:pt x="7150227" y="3116961"/>
                    <a:pt x="6799961" y="3467100"/>
                    <a:pt x="6368034" y="3467100"/>
                  </a:cubicBezTo>
                  <a:lnTo>
                    <a:pt x="782193" y="3467100"/>
                  </a:lnTo>
                  <a:cubicBezTo>
                    <a:pt x="350266" y="3467100"/>
                    <a:pt x="0" y="3116834"/>
                    <a:pt x="0" y="2684907"/>
                  </a:cubicBezTo>
                  <a:close/>
                </a:path>
              </a:pathLst>
            </a:custGeom>
            <a:solidFill>
              <a:srgbClr val="F2EEEE"/>
            </a:solidFill>
            <a:ln w="12700">
              <a:solidFill>
                <a:srgbClr val="000000"/>
              </a:solidFill>
            </a:ln>
          </p:spPr>
        </p:sp>
      </p:grpSp>
      <p:sp>
        <p:nvSpPr>
          <p:cNvPr name="TextBox 11" id="11"/>
          <p:cNvSpPr txBox="true"/>
          <p:nvPr/>
        </p:nvSpPr>
        <p:spPr>
          <a:xfrm rot="0">
            <a:off x="1099842" y="6571507"/>
            <a:ext cx="3474839" cy="393700"/>
          </a:xfrm>
          <a:prstGeom prst="rect">
            <a:avLst/>
          </a:prstGeom>
        </p:spPr>
        <p:txBody>
          <a:bodyPr anchor="t" rtlCol="false" tIns="0" lIns="0" bIns="0" rIns="0">
            <a:spAutoFit/>
          </a:bodyPr>
          <a:lstStyle/>
          <a:p>
            <a:pPr algn="l">
              <a:lnSpc>
                <a:spcPts val="3124"/>
              </a:lnSpc>
            </a:pPr>
            <a:r>
              <a:rPr lang="en-US" sz="2499" b="true">
                <a:solidFill>
                  <a:srgbClr val="383838"/>
                </a:solidFill>
                <a:latin typeface="PT Serif Bold"/>
                <a:ea typeface="PT Serif Bold"/>
                <a:cs typeface="PT Serif Bold"/>
                <a:sym typeface="PT Serif Bold"/>
              </a:rPr>
              <a:t>Architecture Rationale</a:t>
            </a:r>
          </a:p>
        </p:txBody>
      </p:sp>
      <p:sp>
        <p:nvSpPr>
          <p:cNvPr name="TextBox 12" id="12"/>
          <p:cNvSpPr txBox="true"/>
          <p:nvPr/>
        </p:nvSpPr>
        <p:spPr>
          <a:xfrm rot="0">
            <a:off x="1099842" y="7062045"/>
            <a:ext cx="4873971" cy="1640091"/>
          </a:xfrm>
          <a:prstGeom prst="rect">
            <a:avLst/>
          </a:prstGeom>
        </p:spPr>
        <p:txBody>
          <a:bodyPr anchor="t" rtlCol="false" tIns="0" lIns="0" bIns="0" rIns="0">
            <a:spAutoFit/>
          </a:bodyPr>
          <a:lstStyle/>
          <a:p>
            <a:pPr algn="l">
              <a:lnSpc>
                <a:spcPts val="3062"/>
              </a:lnSpc>
            </a:pPr>
            <a:r>
              <a:rPr lang="en-US" sz="1874">
                <a:solidFill>
                  <a:srgbClr val="383838"/>
                </a:solidFill>
                <a:latin typeface="DM Sans"/>
                <a:ea typeface="DM Sans"/>
                <a:cs typeface="DM Sans"/>
                <a:sym typeface="DM Sans"/>
              </a:rPr>
              <a:t>A pragmatic choice that leverages established patterns to meet complex requirements without unnecessary overhead.</a:t>
            </a:r>
          </a:p>
        </p:txBody>
      </p:sp>
      <p:grpSp>
        <p:nvGrpSpPr>
          <p:cNvPr name="Group 13" id="13"/>
          <p:cNvGrpSpPr/>
          <p:nvPr/>
        </p:nvGrpSpPr>
        <p:grpSpPr>
          <a:xfrm rot="0">
            <a:off x="6462560" y="6346184"/>
            <a:ext cx="5362727" cy="2600325"/>
            <a:chOff x="0" y="0"/>
            <a:chExt cx="7150303" cy="3467100"/>
          </a:xfrm>
        </p:grpSpPr>
        <p:sp>
          <p:nvSpPr>
            <p:cNvPr name="Freeform 14" id="14"/>
            <p:cNvSpPr/>
            <p:nvPr/>
          </p:nvSpPr>
          <p:spPr>
            <a:xfrm flipH="false" flipV="false" rot="0">
              <a:off x="0" y="0"/>
              <a:ext cx="7150227" cy="3467100"/>
            </a:xfrm>
            <a:custGeom>
              <a:avLst/>
              <a:gdLst/>
              <a:ahLst/>
              <a:cxnLst/>
              <a:rect r="r" b="b" t="t" l="l"/>
              <a:pathLst>
                <a:path h="3467100" w="7150227">
                  <a:moveTo>
                    <a:pt x="0" y="782193"/>
                  </a:moveTo>
                  <a:cubicBezTo>
                    <a:pt x="0" y="350266"/>
                    <a:pt x="350266" y="0"/>
                    <a:pt x="782193" y="0"/>
                  </a:cubicBezTo>
                  <a:lnTo>
                    <a:pt x="6368034" y="0"/>
                  </a:lnTo>
                  <a:cubicBezTo>
                    <a:pt x="6800088" y="0"/>
                    <a:pt x="7150227" y="350266"/>
                    <a:pt x="7150227" y="782193"/>
                  </a:cubicBezTo>
                  <a:lnTo>
                    <a:pt x="7150227" y="2684907"/>
                  </a:lnTo>
                  <a:cubicBezTo>
                    <a:pt x="7150227" y="3116961"/>
                    <a:pt x="6799961" y="3467100"/>
                    <a:pt x="6368034" y="3467100"/>
                  </a:cubicBezTo>
                  <a:lnTo>
                    <a:pt x="782193" y="3467100"/>
                  </a:lnTo>
                  <a:cubicBezTo>
                    <a:pt x="350266" y="3467100"/>
                    <a:pt x="0" y="3116834"/>
                    <a:pt x="0" y="2684907"/>
                  </a:cubicBezTo>
                  <a:close/>
                </a:path>
              </a:pathLst>
            </a:custGeom>
            <a:solidFill>
              <a:srgbClr val="F2EEEE"/>
            </a:solidFill>
            <a:ln w="12700">
              <a:solidFill>
                <a:srgbClr val="000000"/>
              </a:solidFill>
            </a:ln>
          </p:spPr>
        </p:sp>
      </p:grpSp>
      <p:sp>
        <p:nvSpPr>
          <p:cNvPr name="TextBox 15" id="15"/>
          <p:cNvSpPr txBox="true"/>
          <p:nvPr/>
        </p:nvSpPr>
        <p:spPr>
          <a:xfrm rot="0">
            <a:off x="6706943" y="6571507"/>
            <a:ext cx="2690812" cy="393700"/>
          </a:xfrm>
          <a:prstGeom prst="rect">
            <a:avLst/>
          </a:prstGeom>
        </p:spPr>
        <p:txBody>
          <a:bodyPr anchor="t" rtlCol="false" tIns="0" lIns="0" bIns="0" rIns="0">
            <a:spAutoFit/>
          </a:bodyPr>
          <a:lstStyle/>
          <a:p>
            <a:pPr algn="l">
              <a:lnSpc>
                <a:spcPts val="3124"/>
              </a:lnSpc>
            </a:pPr>
            <a:r>
              <a:rPr lang="en-US" sz="2499" b="true">
                <a:solidFill>
                  <a:srgbClr val="383838"/>
                </a:solidFill>
                <a:latin typeface="PT Serif Bold"/>
                <a:ea typeface="PT Serif Bold"/>
                <a:cs typeface="PT Serif Bold"/>
                <a:sym typeface="PT Serif Bold"/>
              </a:rPr>
              <a:t>System Readiness</a:t>
            </a:r>
          </a:p>
        </p:txBody>
      </p:sp>
      <p:sp>
        <p:nvSpPr>
          <p:cNvPr name="TextBox 16" id="16"/>
          <p:cNvSpPr txBox="true"/>
          <p:nvPr/>
        </p:nvSpPr>
        <p:spPr>
          <a:xfrm rot="0">
            <a:off x="6706943" y="7062045"/>
            <a:ext cx="4873971" cy="1249118"/>
          </a:xfrm>
          <a:prstGeom prst="rect">
            <a:avLst/>
          </a:prstGeom>
        </p:spPr>
        <p:txBody>
          <a:bodyPr anchor="t" rtlCol="false" tIns="0" lIns="0" bIns="0" rIns="0">
            <a:spAutoFit/>
          </a:bodyPr>
          <a:lstStyle/>
          <a:p>
            <a:pPr algn="l">
              <a:lnSpc>
                <a:spcPts val="3062"/>
              </a:lnSpc>
            </a:pPr>
            <a:r>
              <a:rPr lang="en-US" sz="1874">
                <a:solidFill>
                  <a:srgbClr val="383838"/>
                </a:solidFill>
                <a:latin typeface="DM Sans"/>
                <a:ea typeface="DM Sans"/>
                <a:cs typeface="DM Sans"/>
                <a:sym typeface="DM Sans"/>
              </a:rPr>
              <a:t>The design ensures the system is ready for development, providing clear guidelines for implementation and integration.</a:t>
            </a:r>
          </a:p>
        </p:txBody>
      </p:sp>
      <p:grpSp>
        <p:nvGrpSpPr>
          <p:cNvPr name="Group 17" id="17"/>
          <p:cNvGrpSpPr/>
          <p:nvPr/>
        </p:nvGrpSpPr>
        <p:grpSpPr>
          <a:xfrm rot="0">
            <a:off x="12069661" y="6346184"/>
            <a:ext cx="5362727" cy="2600325"/>
            <a:chOff x="0" y="0"/>
            <a:chExt cx="7150303" cy="3467100"/>
          </a:xfrm>
        </p:grpSpPr>
        <p:sp>
          <p:nvSpPr>
            <p:cNvPr name="Freeform 18" id="18"/>
            <p:cNvSpPr/>
            <p:nvPr/>
          </p:nvSpPr>
          <p:spPr>
            <a:xfrm flipH="false" flipV="false" rot="0">
              <a:off x="0" y="0"/>
              <a:ext cx="7150227" cy="3467100"/>
            </a:xfrm>
            <a:custGeom>
              <a:avLst/>
              <a:gdLst/>
              <a:ahLst/>
              <a:cxnLst/>
              <a:rect r="r" b="b" t="t" l="l"/>
              <a:pathLst>
                <a:path h="3467100" w="7150227">
                  <a:moveTo>
                    <a:pt x="0" y="782193"/>
                  </a:moveTo>
                  <a:cubicBezTo>
                    <a:pt x="0" y="350266"/>
                    <a:pt x="350266" y="0"/>
                    <a:pt x="782193" y="0"/>
                  </a:cubicBezTo>
                  <a:lnTo>
                    <a:pt x="6368034" y="0"/>
                  </a:lnTo>
                  <a:cubicBezTo>
                    <a:pt x="6800088" y="0"/>
                    <a:pt x="7150227" y="350266"/>
                    <a:pt x="7150227" y="782193"/>
                  </a:cubicBezTo>
                  <a:lnTo>
                    <a:pt x="7150227" y="2684907"/>
                  </a:lnTo>
                  <a:cubicBezTo>
                    <a:pt x="7150227" y="3116961"/>
                    <a:pt x="6799961" y="3467100"/>
                    <a:pt x="6368034" y="3467100"/>
                  </a:cubicBezTo>
                  <a:lnTo>
                    <a:pt x="782193" y="3467100"/>
                  </a:lnTo>
                  <a:cubicBezTo>
                    <a:pt x="350266" y="3467100"/>
                    <a:pt x="0" y="3116834"/>
                    <a:pt x="0" y="2684907"/>
                  </a:cubicBezTo>
                  <a:close/>
                </a:path>
              </a:pathLst>
            </a:custGeom>
            <a:solidFill>
              <a:srgbClr val="F2EEEE"/>
            </a:solidFill>
            <a:ln w="12700">
              <a:solidFill>
                <a:srgbClr val="000000"/>
              </a:solidFill>
            </a:ln>
          </p:spPr>
        </p:sp>
      </p:grpSp>
      <p:sp>
        <p:nvSpPr>
          <p:cNvPr name="TextBox 19" id="19"/>
          <p:cNvSpPr txBox="true"/>
          <p:nvPr/>
        </p:nvSpPr>
        <p:spPr>
          <a:xfrm rot="0">
            <a:off x="12314034" y="6571507"/>
            <a:ext cx="2684562" cy="393700"/>
          </a:xfrm>
          <a:prstGeom prst="rect">
            <a:avLst/>
          </a:prstGeom>
        </p:spPr>
        <p:txBody>
          <a:bodyPr anchor="t" rtlCol="false" tIns="0" lIns="0" bIns="0" rIns="0">
            <a:spAutoFit/>
          </a:bodyPr>
          <a:lstStyle/>
          <a:p>
            <a:pPr algn="l">
              <a:lnSpc>
                <a:spcPts val="3124"/>
              </a:lnSpc>
            </a:pPr>
            <a:r>
              <a:rPr lang="en-US" sz="2499" b="true">
                <a:solidFill>
                  <a:srgbClr val="383838"/>
                </a:solidFill>
                <a:latin typeface="PT Serif Bold"/>
                <a:ea typeface="PT Serif Bold"/>
                <a:cs typeface="PT Serif Bold"/>
                <a:sym typeface="PT Serif Bold"/>
              </a:rPr>
              <a:t>Future Scalability</a:t>
            </a:r>
          </a:p>
        </p:txBody>
      </p:sp>
      <p:sp>
        <p:nvSpPr>
          <p:cNvPr name="TextBox 20" id="20"/>
          <p:cNvSpPr txBox="true"/>
          <p:nvPr/>
        </p:nvSpPr>
        <p:spPr>
          <a:xfrm rot="0">
            <a:off x="12314034" y="7062045"/>
            <a:ext cx="4873971" cy="1249118"/>
          </a:xfrm>
          <a:prstGeom prst="rect">
            <a:avLst/>
          </a:prstGeom>
        </p:spPr>
        <p:txBody>
          <a:bodyPr anchor="t" rtlCol="false" tIns="0" lIns="0" bIns="0" rIns="0">
            <a:spAutoFit/>
          </a:bodyPr>
          <a:lstStyle/>
          <a:p>
            <a:pPr algn="l">
              <a:lnSpc>
                <a:spcPts val="3062"/>
              </a:lnSpc>
            </a:pPr>
            <a:r>
              <a:rPr lang="en-US" sz="1874">
                <a:solidFill>
                  <a:srgbClr val="383838"/>
                </a:solidFill>
                <a:latin typeface="DM Sans"/>
                <a:ea typeface="DM Sans"/>
                <a:cs typeface="DM Sans"/>
                <a:sym typeface="DM Sans"/>
              </a:rPr>
              <a:t>Built to accommodate future growth and evolving requirements, ensuring MindCare remains relevant and effective.</a:t>
            </a:r>
          </a:p>
        </p:txBody>
      </p:sp>
      <p:sp>
        <p:nvSpPr>
          <p:cNvPr name="TextBox 21" id="21"/>
          <p:cNvSpPr txBox="true"/>
          <p:nvPr/>
        </p:nvSpPr>
        <p:spPr>
          <a:xfrm rot="0">
            <a:off x="855459" y="9145191"/>
            <a:ext cx="16577072" cy="467173"/>
          </a:xfrm>
          <a:prstGeom prst="rect">
            <a:avLst/>
          </a:prstGeom>
        </p:spPr>
        <p:txBody>
          <a:bodyPr anchor="t" rtlCol="false" tIns="0" lIns="0" bIns="0" rIns="0">
            <a:spAutoFit/>
          </a:bodyPr>
          <a:lstStyle/>
          <a:p>
            <a:pPr algn="l">
              <a:lnSpc>
                <a:spcPts val="3062"/>
              </a:lnSpc>
            </a:pPr>
            <a:r>
              <a:rPr lang="en-US" sz="1874">
                <a:solidFill>
                  <a:srgbClr val="383838"/>
                </a:solidFill>
                <a:latin typeface="DM Sans"/>
                <a:ea typeface="DM Sans"/>
                <a:cs typeface="DM Sans"/>
                <a:sym typeface="DM Sans"/>
              </a:rPr>
              <a:t>Thank you.</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DAG9g-pi7NE</dc:identifier>
  <dcterms:modified xsi:type="dcterms:W3CDTF">2011-08-01T06:04:30Z</dcterms:modified>
  <cp:revision>1</cp:revision>
  <dc:title>MindCare-Online-Mental-Health-Support-System.pptx</dc:title>
</cp:coreProperties>
</file>